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배점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2차 면접전형</c:v>
                </c:pt>
                <c:pt idx="1">
                  <c:v>1차 서류전형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엠블럼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680960" y="1097280"/>
            <a:ext cx="4023360" cy="4023360"/>
          </a:xfrm>
          <a:prstGeom prst="rect">
            <a:avLst/>
          </a:prstGeom>
        </p:spPr>
      </p:pic>
      <p:pic>
        <p:nvPicPr>
          <p:cNvPr id="3" name="Image 1" descr="정석항공과학고등학교 교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57200"/>
            <a:ext cx="1133856" cy="4846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914400" y="173736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(24학급)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21488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 사무직원</a:t>
            </a:r>
            <a:endParaRPr lang="en-US" sz="46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</a:t>
            </a:r>
            <a:endParaRPr lang="en-US" sz="4600" dirty="0"/>
          </a:p>
        </p:txBody>
      </p:sp>
      <p:sp>
        <p:nvSpPr>
          <p:cNvPr id="6" name="Shape 2"/>
          <p:cNvSpPr/>
          <p:nvPr/>
        </p:nvSpPr>
        <p:spPr>
          <a:xfrm>
            <a:off x="914400" y="4224528"/>
            <a:ext cx="4892040" cy="51206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914400" y="4224528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사전협의·계획 보고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접수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61188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30936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30936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 · 학교법인 임용 제청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 및 채용 사유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66928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50592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450592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2450592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현원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4256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334256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334256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발생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127248"/>
            <a:ext cx="5285232" cy="1225296"/>
          </a:xfrm>
          <a:prstGeom prst="roundRect">
            <a:avLst>
              <a:gd name="adj" fmla="val 5224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77824" y="33101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77824" y="38770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852928" y="3346704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 예정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4535424"/>
            <a:ext cx="5285232" cy="1005840"/>
          </a:xfrm>
          <a:prstGeom prst="roundRect">
            <a:avLst>
              <a:gd name="adj" fmla="val 6364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77824" y="46451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938528" y="4645152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증치 정원 — 기간제 인력으로 운영 예정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09360" y="1572768"/>
            <a:ext cx="5285232" cy="3968496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675120" y="18288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사유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6675120" y="2926080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75120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50608" y="2395728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675120" y="449884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75120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150608" y="3968496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5779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STAFFING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직원 현황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64208"/>
          <a:ext cx="10844784" cy="914400"/>
        </p:xfrm>
        <a:graphic>
          <a:graphicData uri="http://schemas.openxmlformats.org/drawingml/2006/table">
            <a:tbl>
              <a:tblPr/>
              <a:tblGrid>
                <a:gridCol w="1133856"/>
                <a:gridCol w="658368"/>
                <a:gridCol w="548640"/>
                <a:gridCol w="548640"/>
                <a:gridCol w="548640"/>
                <a:gridCol w="548640"/>
                <a:gridCol w="1060704"/>
                <a:gridCol w="548640"/>
                <a:gridCol w="694944"/>
                <a:gridCol w="603504"/>
                <a:gridCol w="694944"/>
                <a:gridCol w="822960"/>
                <a:gridCol w="2432304"/>
              </a:tblGrid>
              <a:tr h="347472">
                <a:tc rowSpan="3"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채용(안)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47472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658368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23A3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-3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58368" y="41148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5836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5836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8명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285292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85292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현원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85292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04748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04748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04748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724204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24204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24204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943660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43660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기간제 운영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43660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SCHEDULE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16736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16736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 rot="5400000">
            <a:off x="2569464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0" name="Shape 8"/>
          <p:cNvSpPr/>
          <p:nvPr/>
        </p:nvSpPr>
        <p:spPr>
          <a:xfrm>
            <a:off x="2843784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93592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93592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71800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935224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 rot="5400000">
            <a:off x="4846320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0640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70448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70448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48656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 rot="5400000">
            <a:off x="7123176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2" name="Shape 20"/>
          <p:cNvSpPr/>
          <p:nvPr/>
        </p:nvSpPr>
        <p:spPr>
          <a:xfrm>
            <a:off x="7397496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47304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47304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25512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88936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 rot="5400000">
            <a:off x="9400032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8" name="Shape 26"/>
          <p:cNvSpPr/>
          <p:nvPr/>
        </p:nvSpPr>
        <p:spPr>
          <a:xfrm>
            <a:off x="9674352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424160" y="228600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424160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802368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765792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66928" y="5230368"/>
            <a:ext cx="11027664" cy="896112"/>
          </a:xfrm>
          <a:prstGeom prst="roundRect">
            <a:avLst>
              <a:gd name="adj" fmla="val 7143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41248" y="5230368"/>
            <a:ext cx="10479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사전협의(9월) → 공고·접수(11월) → 전형(12월 초) → 검증·통보(12월) → 임용(2027. 1. 1.)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PROCESS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16736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16736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rot="5400000">
            <a:off x="2569464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9" name="Shape 7"/>
          <p:cNvSpPr/>
          <p:nvPr/>
        </p:nvSpPr>
        <p:spPr>
          <a:xfrm>
            <a:off x="2843784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93592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93592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53512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35224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 rot="5400000">
            <a:off x="4846320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5" name="Shape 13"/>
          <p:cNvSpPr/>
          <p:nvPr/>
        </p:nvSpPr>
        <p:spPr>
          <a:xfrm>
            <a:off x="5120640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70448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70448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230368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2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rot="5400000">
            <a:off x="7123176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1" name="Shape 19"/>
          <p:cNvSpPr/>
          <p:nvPr/>
        </p:nvSpPr>
        <p:spPr>
          <a:xfrm>
            <a:off x="7397496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47304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147304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507224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653528" y="356616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 조회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 rot="5400000">
            <a:off x="9400032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7" name="Shape 25"/>
          <p:cNvSpPr/>
          <p:nvPr/>
        </p:nvSpPr>
        <p:spPr>
          <a:xfrm>
            <a:off x="9674352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424160" y="202996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424160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0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765792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0467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248716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평가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5906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49681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 70점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17930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응시원서·자기소개서를 기초로 업무 적합성 종합평가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01  APPLICATION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493776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1828800"/>
            <a:ext cx="4242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자격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932688" y="2441448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88720" y="2340864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32688" y="3300984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88720" y="3200400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4370832"/>
            <a:ext cx="4937760" cy="1170432"/>
          </a:xfrm>
          <a:prstGeom prst="roundRect">
            <a:avLst>
              <a:gd name="adj" fmla="val 5469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4553712"/>
            <a:ext cx="4242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입력 항목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901184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 ·  자기소개서(800자 이내)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888736" y="1572768"/>
            <a:ext cx="5705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문항 (800자 이내)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888736" y="2048256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2267712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2648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2103120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성장배경, 본인 성격의 장·단점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88736" y="3017520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26480" y="3236976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26480" y="3236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3072384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지원동기 (본교에 지원하게 된 이유와 응시 직종에 본인이 적합하다고 판단되는 이유)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88736" y="3986784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4206240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2648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4041648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입사 후 포부 및 직무 수행 계획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888736" y="4956048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26480" y="5175504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126480" y="5175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675120" y="5010912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 내 갈등 상황과 이를 해결하기 위한 노력 및 극복했던 경험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02  DOCUMENT SCREENING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전형 (1차)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등을 평가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행정실장 1명, 외부위원 1명)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333488" y="1517904"/>
            <a:ext cx="4261104" cy="3383280"/>
          </a:xfrm>
          <a:prstGeom prst="roundRect">
            <a:avLst>
              <a:gd name="adj" fmla="val 18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662672" y="1810512"/>
            <a:ext cx="3602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불성실 작성자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탈락 기준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680960" y="2944368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936992" y="270662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680960" y="3639312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936992" y="340156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0960" y="4334256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936992" y="409651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175504"/>
            <a:ext cx="11027664" cy="749808"/>
          </a:xfrm>
          <a:prstGeom prst="roundRect">
            <a:avLst>
              <a:gd name="adj" fmla="val 8537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66928" y="517550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 · 합격배수 5배수 내외 — 심사위원 3명(교장 1, 행정실장 1, 외부위원 1)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03  INTERVIEW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 심층면접 (2차)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및 자기소개서를 기초로 업무 적합성을 종합평가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법인관계자 1명, 외부위원 1명)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333488" y="1517904"/>
            <a:ext cx="4261104" cy="4407408"/>
          </a:xfrm>
          <a:prstGeom prst="roundRect">
            <a:avLst>
              <a:gd name="adj" fmla="val 1502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662672" y="1773936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전형별 배점 구성</a:t>
            </a:r>
            <a:endParaRPr lang="en-US" sz="18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836408" y="2121408"/>
          <a:ext cx="3255264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8"/>
          <p:cNvSpPr/>
          <p:nvPr/>
        </p:nvSpPr>
        <p:spPr>
          <a:xfrm>
            <a:off x="7790688" y="4306824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19872" y="42245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952804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70점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7790688" y="4690872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CADCFC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119872" y="460857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9528048" y="460857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30점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607808" y="5102352"/>
            <a:ext cx="3712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 합산 총 100점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07808" y="5449824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최고득점자 순으로 2배수 내외 최종합격 예정자 선정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04  VERIFICATION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81328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 상 자  </a:t>
            </a:r>
            <a:pPr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</a:t>
            </a:r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검증내용  </a:t>
            </a:r>
            <a:pPr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 결격사유 해당 여부 확인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4114800" cy="2286000"/>
          </a:xfrm>
          <a:prstGeom prst="roundRect">
            <a:avLst>
              <a:gd name="adj" fmla="val 280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96112" y="2267712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79806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시행근거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938528" y="2798064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사무직원 인사 규정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(신규임용자 구비서류)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51129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검사항목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938528" y="3511296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공무원 채용신체검사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적용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102352" y="1956816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결격사유조회 및 범죄경력조회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02352" y="2414016"/>
          <a:ext cx="6492240" cy="914400"/>
        </p:xfrm>
        <a:graphic>
          <a:graphicData uri="http://schemas.openxmlformats.org/drawingml/2006/table">
            <a:tbl>
              <a:tblPr/>
              <a:tblGrid>
                <a:gridCol w="2231136"/>
                <a:gridCol w="2194560"/>
                <a:gridCol w="2066544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관한 법률」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66928" y="4681728"/>
            <a:ext cx="11027664" cy="1170432"/>
          </a:xfrm>
          <a:prstGeom prst="roundRect">
            <a:avLst>
              <a:gd name="adj" fmla="val 5469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32688" y="4681728"/>
            <a:ext cx="1371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3종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48716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48716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50468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50468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52220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2220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성범죄·아동학대 조회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OTHERS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사항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 선정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52544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81728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81728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81728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예비합격자 운영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00016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67344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67344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67344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가점 적용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85632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4882896"/>
            <a:ext cx="11027664" cy="877824"/>
          </a:xfrm>
          <a:prstGeom prst="roundRect">
            <a:avLst>
              <a:gd name="adj" fmla="val 72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66928" y="4882896"/>
            <a:ext cx="110276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743200"/>
            <a:ext cx="4754880" cy="4754880"/>
          </a:xfrm>
          <a:prstGeom prst="ellipse">
            <a:avLst/>
          </a:prstGeom>
          <a:solidFill>
            <a:srgbClr val="141B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32688" y="786384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보는 채용 계획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3716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· 기술·관리운영직(9급) 1명 공개채용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92424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0168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30168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630168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 8 / 현원 5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배점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5664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100점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30 + 면접 70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43416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81160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임용일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법인 임용 제청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26110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일정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사전협의·계획 보고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392424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392424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392424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지원서 접수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17920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217920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 및 결격사유 검증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043416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043416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043416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2026-08-31T02:11:21Z</dcterms:created>
  <dcterms:modified xsi:type="dcterms:W3CDTF">2026-08-31T02:11:21Z</dcterms:modified>
</cp:coreProperties>
</file>