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배점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CADCFC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2차 면접전형</c:v>
                </c:pt>
                <c:pt idx="1">
                  <c:v>1차 서류전형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70</c:v>
                </c:pt>
                <c:pt idx="1">
                  <c:v>30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2027년 사무직원 채용 계획(안) 개요. 기술·관리운영직 9급 1명을 공개채용하며, 2026년 9월 교육청 사전협의부터 2027년 1월 1일 임용까지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 대비 현원 5명, 결원 3명. 그중 1명은 공개채용, 증치 정원 2명은 기간제로 운영합니다.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8명(행정직 4, 기술·관리운영직 2, 증치 2), 현원 5명. 증치 사유는 15학급당 1명, 1,000Kw 이상 1명입니다.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채용 일정은 5단계로 진행되며, 2027년 1월 1일 임용으로 마무리됩니다.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전형은 지원서 접수 → 서류심사(5배수) → 업무적성 및 심층면접(2배수) → 결격사유 검증 → 최종합격자 결정 순으로 진행됩니다.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지원 자격은 지방공무원법 제31조 결격사유 비해당, 만 18세 이상 정년 미해당자입니다. 자기소개서는 4개 문항, 800자 이내로 작성합니다.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1차 서류전형은 총 30점 만점, 5배수 내외를 선발합니다. 자기소개서 불성실 작성자는 탈락 기준에 따라 배제됩니다.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2차 면접은 70점 만점이며 2배수 내외를 선발합니다. 1·2차 합산 100점 기준으로 최종 순위를 결정합니다.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예정자를 대상으로 채용신체검사, 결격사유·범죄경력 조회, 성범죄 및 아동학대 범죄전력 조회를 실시합니다.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예정자는 2배수 내외로 선정하여 법인에 임용 제청합니다. 채용예정인원이 3명 이하이므로 보훈 가점은 적용하지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채용 계획 요약: 1명 공개채용, 결원 3명, 배점 100점, 2027년 1월 1일 임용.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엠블럼">    </p:cNvPr>
          <p:cNvPicPr>
            <a:picLocks noChangeAspect="1"/>
          </p:cNvPicPr>
          <p:nvPr/>
        </p:nvPicPr>
        <p:blipFill>
          <a:blip r:embed="rId1">
            <a:alphaModFix amt="11000"/>
          </a:blip>
          <a:stretch>
            <a:fillRect/>
          </a:stretch>
        </p:blipFill>
        <p:spPr>
          <a:xfrm>
            <a:off x="3383280" y="731520"/>
            <a:ext cx="5394960" cy="5394960"/>
          </a:xfrm>
          <a:prstGeom prst="rect">
            <a:avLst/>
          </a:prstGeom>
        </p:spPr>
      </p:pic>
      <p:pic>
        <p:nvPicPr>
          <p:cNvPr id="3" name="Image 1" descr="정석항공과학고등학교 교표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57200"/>
            <a:ext cx="1133856" cy="48463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914400" y="1737360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정석항공과학고등학교 (24학급)</a:t>
            </a:r>
            <a:endParaRPr lang="en-US" sz="15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214884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2027년 사무직원</a:t>
            </a:r>
            <a:endParaRPr lang="en-US" sz="46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</a:t>
            </a:r>
            <a:endParaRPr lang="en-US" sz="4600" dirty="0"/>
          </a:p>
        </p:txBody>
      </p:sp>
      <p:sp>
        <p:nvSpPr>
          <p:cNvPr id="6" name="Shape 2"/>
          <p:cNvSpPr/>
          <p:nvPr/>
        </p:nvSpPr>
        <p:spPr>
          <a:xfrm>
            <a:off x="914400" y="4224528"/>
            <a:ext cx="4892040" cy="51206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914400" y="4224528"/>
            <a:ext cx="4892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기술·관리운영직(9급) 1명 공개채용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914400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사전협의·계획 보고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914400" y="54681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3611880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 접수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3611880" y="54681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309360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6309360" y="54681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914400" y="61447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E9A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인건비 교육청 지원 · 학교법인 임용 제청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OVERVIEW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인원 및 채용 사유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170078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66928" y="1700784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77440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50592" y="1572768"/>
            <a:ext cx="170078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450592" y="1700784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2450592" y="2377440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현원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34256" y="1572768"/>
            <a:ext cx="170078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334256" y="1700784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-3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4334256" y="2377440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발생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127248"/>
            <a:ext cx="5285232" cy="1225296"/>
          </a:xfrm>
          <a:prstGeom prst="roundRect">
            <a:avLst>
              <a:gd name="adj" fmla="val 5224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77824" y="3310128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877824" y="38770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공개채용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852928" y="3346704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 9급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 임용 예정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4535424"/>
            <a:ext cx="5285232" cy="1005840"/>
          </a:xfrm>
          <a:prstGeom prst="roundRect">
            <a:avLst>
              <a:gd name="adj" fmla="val 6364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77824" y="464515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2명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1938528" y="4645152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증치 정원 — 기간제 인력으로 운영 예정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09360" y="1572768"/>
            <a:ext cx="5285232" cy="3968496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675120" y="182880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사유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6675120" y="2926080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75120" y="2926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150608" y="2395728"/>
            <a:ext cx="40782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 8명 대비 현원 5명으로 결원 3명이 발생하여, 안정적인 학교 행정업무 수행을 위한 인력 충원이 필요함.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675120" y="4498848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675120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150608" y="3968496"/>
            <a:ext cx="40782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3명 중 1명은 공개채용을 통해 충원하고, 증치 정원 2명은 기간제 인력으로 운영하고자 함.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5779008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인건비는 교육청에서 지원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STAFFING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직원 현황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07008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인건비 교육청 지원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64208"/>
          <a:ext cx="10844784" cy="914400"/>
        </p:xfrm>
        <a:graphic>
          <a:graphicData uri="http://schemas.openxmlformats.org/drawingml/2006/table">
            <a:tbl>
              <a:tblPr/>
              <a:tblGrid>
                <a:gridCol w="1133856"/>
                <a:gridCol w="658368"/>
                <a:gridCol w="548640"/>
                <a:gridCol w="548640"/>
                <a:gridCol w="548640"/>
                <a:gridCol w="548640"/>
                <a:gridCol w="1060704"/>
                <a:gridCol w="548640"/>
                <a:gridCol w="694944"/>
                <a:gridCol w="603504"/>
                <a:gridCol w="694944"/>
                <a:gridCol w="822960"/>
                <a:gridCol w="2432304"/>
              </a:tblGrid>
              <a:tr h="347472">
                <a:tc rowSpan="3"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 hMerge="1">
                  <a:tcPr/>
                </a:tc>
                <a:tc grid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(기술직)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채용(안)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비고 (증치사유)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 gridSpan="2" vMerge="1">
                  <a:tcPr/>
                </a:tc>
                <a:tc vMerge="1" hMerge="1">
                  <a:tcPr/>
                </a:tc>
                <a:tc gridSpan="4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관리운영직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347472">
                <a:tc gridSpan="2" vMerge="1">
                  <a:tcPr/>
                </a:tc>
                <a:tc vMerge="1" h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658368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정석고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(24학급)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23A3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-3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- 15학급당  1명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- 1,000Kw 이상 1명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58368" y="411480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증치 정원 2명은 기간제 인력으로 운영 예정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5836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5836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정원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8명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285292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285292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현원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85292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504748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04748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04748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</a:t>
            </a:r>
            <a:endParaRPr lang="en-US" sz="2100" dirty="0"/>
          </a:p>
        </p:txBody>
      </p:sp>
      <p:sp>
        <p:nvSpPr>
          <p:cNvPr id="16" name="Shape 13"/>
          <p:cNvSpPr/>
          <p:nvPr/>
        </p:nvSpPr>
        <p:spPr>
          <a:xfrm>
            <a:off x="724204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24204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공개채용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724204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943660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43660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기간제 운영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43660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2명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SCHEDULE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16736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16736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94944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 및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 보고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 rot="5400000">
            <a:off x="2569464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0" name="Shape 8"/>
          <p:cNvSpPr/>
          <p:nvPr/>
        </p:nvSpPr>
        <p:spPr>
          <a:xfrm>
            <a:off x="2843784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93592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593592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971800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935224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 rot="5400000">
            <a:off x="4846320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6" name="Shape 14"/>
          <p:cNvSpPr/>
          <p:nvPr/>
        </p:nvSpPr>
        <p:spPr>
          <a:xfrm>
            <a:off x="5120640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870448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870448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248656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(서류전형, 업무적성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및 심층면접)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212080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 초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 rot="5400000">
            <a:off x="7123176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2" name="Shape 20"/>
          <p:cNvSpPr/>
          <p:nvPr/>
        </p:nvSpPr>
        <p:spPr>
          <a:xfrm>
            <a:off x="7397496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147304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147304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525512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합격자 통보 및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488936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 rot="5400000">
            <a:off x="9400032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8" name="Shape 26"/>
          <p:cNvSpPr/>
          <p:nvPr/>
        </p:nvSpPr>
        <p:spPr>
          <a:xfrm>
            <a:off x="9674352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424160" y="2286000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424160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802368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9765792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66928" y="5230368"/>
            <a:ext cx="11027664" cy="896112"/>
          </a:xfrm>
          <a:prstGeom prst="roundRect">
            <a:avLst>
              <a:gd name="adj" fmla="val 7143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841248" y="5230368"/>
            <a:ext cx="104790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사전협의(9월) → 공고·접수(11월) → 전형(12월 초) → 검증·통보(12월) → 임용(2027. 1. 1.)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PROCESS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16736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16736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76656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 rot="5400000">
            <a:off x="2569464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9" name="Shape 7"/>
          <p:cNvSpPr/>
          <p:nvPr/>
        </p:nvSpPr>
        <p:spPr>
          <a:xfrm>
            <a:off x="2843784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93592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93592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53512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심사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935224" y="3694176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5배수 내외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 rot="5400000">
            <a:off x="4846320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5" name="Shape 13"/>
          <p:cNvSpPr/>
          <p:nvPr/>
        </p:nvSpPr>
        <p:spPr>
          <a:xfrm>
            <a:off x="5120640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870448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70448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230368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심층 면접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212080" y="3694176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2배수 내외</a:t>
            </a:r>
            <a:endParaRPr lang="en-US" sz="12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(법인승인요청)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 rot="5400000">
            <a:off x="7123176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1" name="Shape 19"/>
          <p:cNvSpPr/>
          <p:nvPr/>
        </p:nvSpPr>
        <p:spPr>
          <a:xfrm>
            <a:off x="7397496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47304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147304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507224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653528" y="356616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조회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성범죄 조회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 rot="5400000">
            <a:off x="9400032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7" name="Shape 25"/>
          <p:cNvSpPr/>
          <p:nvPr/>
        </p:nvSpPr>
        <p:spPr>
          <a:xfrm>
            <a:off x="9674352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10424160" y="2029968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424160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9784080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765792" y="3694176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 임용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66928" y="5175504"/>
            <a:ext cx="5335524" cy="822960"/>
          </a:xfrm>
          <a:prstGeom prst="roundRect">
            <a:avLst>
              <a:gd name="adj" fmla="val 7778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804672" y="5175504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 30점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2487168" y="5175504"/>
            <a:ext cx="32141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지원자격 요건 및 자기소개서 작성 성실도 평가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59068" y="5175504"/>
            <a:ext cx="5335524" cy="822960"/>
          </a:xfrm>
          <a:prstGeom prst="roundRect">
            <a:avLst>
              <a:gd name="adj" fmla="val 7778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6496812" y="5175504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 면접전형 70점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8179308" y="5175504"/>
            <a:ext cx="32141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응시원서·자기소개서를 기초로 업무 적합성 종합평가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01  APPLICATION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119104" y="51206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119104" y="512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4937760" cy="265176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14400" y="1828800"/>
            <a:ext cx="4242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자격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932688" y="2441448"/>
            <a:ext cx="100584" cy="1005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88720" y="2340864"/>
            <a:ext cx="3931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「지방공무원법」 제31조에 결격사유에 해당하지 않는 자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932688" y="3300984"/>
            <a:ext cx="100584" cy="1005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88720" y="3200400"/>
            <a:ext cx="3931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공고일 현재 취업가능 법정 연령(만 18세) 이상인 자로서 「지방공무원법」 제66조(정년)에 해당되지 않는 자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4370832"/>
            <a:ext cx="4937760" cy="1170432"/>
          </a:xfrm>
          <a:prstGeom prst="roundRect">
            <a:avLst>
              <a:gd name="adj" fmla="val 5469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14400" y="4553712"/>
            <a:ext cx="4242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입력 항목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901184"/>
            <a:ext cx="4242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 ·  자기소개서(800자 이내)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888736" y="1572768"/>
            <a:ext cx="5705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문항 (800자 이내)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5888736" y="2048256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26480" y="2267712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126480" y="2267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2103120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성장배경, 본인 성격의 장·단점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888736" y="3017520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126480" y="3236976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26480" y="32369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675120" y="3072384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지원동기 (본교에 지원하게 된 이유와 응시 직종에 본인이 적합하다고 판단되는 이유)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888736" y="3986784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26480" y="4206240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12648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675120" y="4041648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입사 후 포부 및 직무 수행 계획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888736" y="4956048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126480" y="5175504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126480" y="5175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675120" y="5010912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조직 내 갈등 상황과 이를 해결하기 위한 노력 및 극복했던 경험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02  DOCUMENT SCREENING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전형 (1차)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119104" y="51206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119104" y="512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 </a:t>
            </a:r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지원자격 요건 및 자기소개서 작성 성실도 등을 평가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 </a:t>
            </a:r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 (교장 1명, 행정실장 1명, 외부위원 1명)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86000"/>
          <a:ext cx="6309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55448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직무전문성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5배수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지원동기 및 직업관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성장과정 및 활동경험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표현력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30점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333488" y="1517904"/>
            <a:ext cx="4261104" cy="3383280"/>
          </a:xfrm>
          <a:prstGeom prst="roundRect">
            <a:avLst>
              <a:gd name="adj" fmla="val 1892"/>
            </a:avLst>
          </a:prstGeom>
          <a:solidFill>
            <a:srgbClr val="FBEDE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662672" y="1810512"/>
            <a:ext cx="36027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불성실 작성자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탈락 기준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680960" y="2944368"/>
            <a:ext cx="100584" cy="100584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936992" y="2706624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문항과 전혀 무관한 내용을 작성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680960" y="3639312"/>
            <a:ext cx="100584" cy="100584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936992" y="3401568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내용 반복 또는 문항별 50% 미만(약 400자) 작성한 경우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680960" y="4334256"/>
            <a:ext cx="100584" cy="100584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936992" y="4096512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기관명을 오기재하여 제출한 경우 등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175504"/>
            <a:ext cx="11027664" cy="749808"/>
          </a:xfrm>
          <a:prstGeom prst="roundRect">
            <a:avLst>
              <a:gd name="adj" fmla="val 8537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566928" y="5175504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 30점 · 합격배수 5배수 내외 — 심사위원 3명(교장 1, 행정실장 1, 외부위원 1)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03  INTERVIEW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 심층면접 (2차)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119104" y="51206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119104" y="512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 </a:t>
            </a:r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및 자기소개서를 기초로 업무 적합성을 종합평가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 </a:t>
            </a:r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 (교장 1명, 법인관계자 1명, 외부위원 1명)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86000"/>
          <a:ext cx="6309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55448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직무수행능력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2배수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기본소양·태도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조직 이해도 및 적응력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발전가능성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70점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333488" y="1517904"/>
            <a:ext cx="4261104" cy="4407408"/>
          </a:xfrm>
          <a:prstGeom prst="roundRect">
            <a:avLst>
              <a:gd name="adj" fmla="val 1502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662672" y="1773936"/>
            <a:ext cx="3602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전형별 배점 구성</a:t>
            </a:r>
            <a:endParaRPr lang="en-US" sz="18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7836408" y="2121408"/>
          <a:ext cx="3255264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8"/>
          <p:cNvSpPr/>
          <p:nvPr/>
        </p:nvSpPr>
        <p:spPr>
          <a:xfrm>
            <a:off x="7790688" y="4306824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1E2761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19872" y="422452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 면접전형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9528048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70점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7790688" y="4690872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CADCFC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8119872" y="460857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9528048" y="460857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30점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7607808" y="5102352"/>
            <a:ext cx="3712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 합산 총 100점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07808" y="5449824"/>
            <a:ext cx="3712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최고득점자 순으로 2배수 내외 최종합격 예정자 선정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04  VERIFICATION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119104" y="51206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119104" y="512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481328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 상 자  </a:t>
            </a:r>
            <a:pPr indent="0" marL="0"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</a:t>
            </a:r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    검증내용  </a:t>
            </a:r>
            <a:pPr indent="0" marL="0"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 결격사유 해당 여부 확인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4114800" cy="2286000"/>
          </a:xfrm>
          <a:prstGeom prst="roundRect">
            <a:avLst>
              <a:gd name="adj" fmla="val 2800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96112" y="2267712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798064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시행근거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938528" y="2798064"/>
            <a:ext cx="2414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사무직원 인사 규정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(신규임용자 구비서류)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511296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검사항목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938528" y="3511296"/>
            <a:ext cx="2414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공무원 채용신체검사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적용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102352" y="1956816"/>
            <a:ext cx="6492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결격사유조회 및 범죄경력조회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02352" y="2414016"/>
          <a:ext cx="6492240" cy="914400"/>
        </p:xfrm>
        <a:graphic>
          <a:graphicData uri="http://schemas.openxmlformats.org/drawingml/2006/table">
            <a:tbl>
              <a:tblPr/>
              <a:tblGrid>
                <a:gridCol w="2231136"/>
                <a:gridCol w="2194560"/>
                <a:gridCol w="2066544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법령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조회 방법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조회 및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범죄경력 조회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「교육공무원법」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「사립학교법」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행정정보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공동이용시스템 이용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성범죄결격 및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아동학대 범죄전력 조회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「아동·청소년 성보호에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관한 법률」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566928" y="4681728"/>
            <a:ext cx="11027664" cy="1170432"/>
          </a:xfrm>
          <a:prstGeom prst="roundRect">
            <a:avLst>
              <a:gd name="adj" fmla="val 5469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932688" y="4681728"/>
            <a:ext cx="1371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3종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487168" y="4974336"/>
            <a:ext cx="274320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487168" y="497433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504688" y="4974336"/>
            <a:ext cx="274320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504688" y="497433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조회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522208" y="4974336"/>
            <a:ext cx="274320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522208" y="497433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성범죄·아동학대 조회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OTHERS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기타 사항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09344"/>
            <a:ext cx="3456432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883664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1883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39572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 선정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980944"/>
            <a:ext cx="27614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전형결과를 합산하여 최고득점자 순으로 2배수 내외의 최종합격 예정자를 선정함.</a:t>
            </a:r>
            <a:endParaRPr lang="en-US" sz="13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예정자에 대하여 법인에 임용 제청을 요청함.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52544" y="1609344"/>
            <a:ext cx="3456432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81728" y="1883664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81728" y="1883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81728" y="239572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예비합격자 운영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700016" y="2980944"/>
            <a:ext cx="27614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최종합격자가 임용을 포기하거나 결격사유 발생 등으로 임용이 불가능한 경우에는 차순위자를 임용할 수 있음.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38160" y="1609344"/>
            <a:ext cx="3456432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67344" y="1883664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67344" y="1883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467344" y="239572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가점 적용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485632" y="2980944"/>
            <a:ext cx="27614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「국가유공자 등 예우 및 지원에 관한 법률」, 「독립유공자 예우에 관한 법률」에 의한 취업지원(보호)대상자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4882896"/>
            <a:ext cx="11027664" cy="877824"/>
          </a:xfrm>
          <a:prstGeom prst="roundRect">
            <a:avLst>
              <a:gd name="adj" fmla="val 7292"/>
            </a:avLst>
          </a:prstGeom>
          <a:solidFill>
            <a:srgbClr val="FBEDE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566928" y="4882896"/>
            <a:ext cx="110276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채용예정인원이 3명 이하인 경우에는 보훈 가점을 적용하지 않음.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2743200"/>
            <a:ext cx="4754880" cy="4754880"/>
          </a:xfrm>
          <a:prstGeom prst="ellipse">
            <a:avLst/>
          </a:prstGeom>
          <a:solidFill>
            <a:srgbClr val="141B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32688" y="786384"/>
            <a:ext cx="11027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보는 채용 계획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137160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정석항공과학고등학교 · 기술·관리운영직(9급) 1명 공개채용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인원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 9급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92424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30168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630168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3630168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정원 8 / 현원 5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17920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55664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배점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55664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100점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30 + 면접 70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043416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81160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임용일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281160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9281160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법인 임용 제청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26110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추진 일정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사전협의·계획 보고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392424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392424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3392424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 지원서 접수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17920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217920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217920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 및 결격사유 검증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043416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043416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9043416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2027년 사무직원 채용 계획(안)</dc:title>
  <dc:subject>PptxGenJS Presentation</dc:subject>
  <dc:creator>정석항공과학고등학교</dc:creator>
  <cp:lastModifiedBy>정석항공과학고등학교</cp:lastModifiedBy>
  <cp:revision>1</cp:revision>
  <dcterms:created xsi:type="dcterms:W3CDTF">2026-08-31T02:11:48Z</dcterms:created>
  <dcterms:modified xsi:type="dcterms:W3CDTF">2026-08-31T02:11:48Z</dcterms:modified>
</cp:coreProperties>
</file>