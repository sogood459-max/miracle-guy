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2차 면접전형</c:v>
                </c:pt>
                <c:pt idx="1">
                  <c:v>1차 서류전형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2027년 사무직원 채용 계획(안) 개요. 기술·관리운영직 9급 1명을 공개채용하며, 2026년 9월 교육청 사전협의부터 2027년 1월 1일 임용까지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 대비 현원 5명, 결원 3명. 그중 1명은 공개채용, 증치 정원 2명은 기간제로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8명(행정직 4, 기술·관리운영직 2, 증치 2), 현원 5명. 증치 사유는 15학급당 1명, 1,000Kw 이상 1명입니다.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채용 일정은 5단계로 진행되며, 2027년 1월 1일 임용으로 마무리됩니다.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전형은 지원서 접수 → 서류심사(5배수) → 업무적성 및 심층면접(2배수) → 결격사유 검증 → 최종합격자 결정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 자격은 지방공무원법 제31조 결격사유 비해당, 만 18세 이상 정년 미해당자입니다. 자기소개서는 4개 문항, 800자 이내로 작성합니다.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서류전형은 총 30점 만점, 5배수 내외를 선발합니다. 자기소개서 불성실 작성자는 탈락 기준에 따라 배제됩니다.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면접은 70점 만점이며 2배수 내외를 선발합니다. 1·2차 합산 100점 기준으로 최종 순위를 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예정자를 대상으로 채용신체검사, 결격사유·범죄경력 조회, 성범죄 및 아동학대 범죄전력 조회를 실시합니다.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예정자는 2배수 내외로 선정하여 법인에 임용 제청합니다. 채용예정인원이 3명 이하이므로 보훈 가점은 적용하지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채용 계획 요약: 1명 공개채용, 결원 3명, 배점 100점, 2027년 1월 1일 임용.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엠블럼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4023360" y="1371600"/>
            <a:ext cx="4114800" cy="4114800"/>
          </a:xfrm>
          <a:prstGeom prst="rect">
            <a:avLst/>
          </a:prstGeom>
        </p:spPr>
      </p:pic>
      <p:pic>
        <p:nvPicPr>
          <p:cNvPr id="3" name="Image 1" descr="정석항공과학고등학교 교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7200"/>
            <a:ext cx="1133856" cy="4846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17373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(24학급)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148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사무직원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</a:t>
            </a:r>
            <a:endParaRPr lang="en-US" sz="4600" dirty="0"/>
          </a:p>
        </p:txBody>
      </p:sp>
      <p:sp>
        <p:nvSpPr>
          <p:cNvPr id="6" name="Shape 2"/>
          <p:cNvSpPr/>
          <p:nvPr/>
        </p:nvSpPr>
        <p:spPr>
          <a:xfrm>
            <a:off x="914400" y="4224528"/>
            <a:ext cx="4892040" cy="51206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14400" y="422452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기술·관리운영직(9급) 1명 공개채용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사전협의·계획 보고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61188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접수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52303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5468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 · 학교법인 임용 제청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 및 채용 사유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66928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50592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450592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2450592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현원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572768"/>
            <a:ext cx="170078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334256" y="17007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334256" y="23774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발생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127248"/>
            <a:ext cx="5285232" cy="1225296"/>
          </a:xfrm>
          <a:prstGeom prst="roundRect">
            <a:avLst>
              <a:gd name="adj" fmla="val 5224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77824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852928" y="33467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 임용 예정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535424"/>
            <a:ext cx="5285232" cy="1005840"/>
          </a:xfrm>
          <a:prstGeom prst="roundRect">
            <a:avLst>
              <a:gd name="adj" fmla="val 6364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77824" y="4645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938528" y="464515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증치 정원 — 기간제 인력으로 운영 예정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09360" y="1572768"/>
            <a:ext cx="5285232" cy="3968496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67512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사유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6675120" y="29260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67512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150608" y="2395728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 8명 대비 현원 5명으로 결원 3명이 발생하여, 안정적인 학교 행정업무 수행을 위한 인력 충원이 필요함.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675120" y="4498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7512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150608" y="3968496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3명 중 1명은 공개채용을 통해 충원하고, 증치 정원 2명은 기간제 인력으로 운영하고자 함.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779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인건비는 교육청에서 지원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STAFFING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현황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07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44784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658368"/>
                <a:gridCol w="548640"/>
                <a:gridCol w="548640"/>
                <a:gridCol w="548640"/>
                <a:gridCol w="548640"/>
                <a:gridCol w="1060704"/>
                <a:gridCol w="548640"/>
                <a:gridCol w="694944"/>
                <a:gridCol w="603504"/>
                <a:gridCol w="694944"/>
                <a:gridCol w="822960"/>
                <a:gridCol w="2432304"/>
              </a:tblGrid>
              <a:tr h="347472">
                <a:tc rowSpan="3"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(기술직)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채용(안)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 (증치사유)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 gridSpan="2" vMerge="1">
                  <a:tcPr/>
                </a:tc>
                <a:tc vMerge="1"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기술·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관리운영직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7472">
                <a:tc gridSpan="2" v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6583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정석고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(24학급)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3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- 15학급당  1명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- 1,000Kw 이상 1명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8368" y="41148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증치 정원 2명은 기간제 인력으로 운영 예정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5836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5836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8명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285292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85292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현원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5292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4748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04748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04748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724204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24204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24204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9436608" y="4846320"/>
            <a:ext cx="201168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43660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기간제 운영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436608" y="5285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SCHEDULE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16736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16736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 보고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2569464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2843784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93592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935224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rot="5400000">
            <a:off x="4846320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5120640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87044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248656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(서류전형, 업무적성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심층면접)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 초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rot="5400000">
            <a:off x="7123176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3" name="Shape 20"/>
          <p:cNvSpPr/>
          <p:nvPr/>
        </p:nvSpPr>
        <p:spPr>
          <a:xfrm>
            <a:off x="7397496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147304" y="2286000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47304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합격자 통보 및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88936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 rot="5400000">
            <a:off x="9400032" y="3278124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9" name="Shape 26"/>
          <p:cNvSpPr/>
          <p:nvPr/>
        </p:nvSpPr>
        <p:spPr>
          <a:xfrm>
            <a:off x="9674352" y="2011680"/>
            <a:ext cx="19202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424160" y="22860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42416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802368" y="283464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765792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66928" y="5230368"/>
            <a:ext cx="11027664" cy="896112"/>
          </a:xfrm>
          <a:prstGeom prst="roundRect">
            <a:avLst>
              <a:gd name="adj" fmla="val 7143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41248" y="5230368"/>
            <a:ext cx="10479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사전협의(9월) → 공고·접수(11월) → 전형(12월 초) → 검증·통보(12월) → 임용(2027. 1. 1.)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PROCESS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16736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1673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2569464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3784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9359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953512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심사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35224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5배수 내외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 rot="5400000">
            <a:off x="4846320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5120640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70448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7044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30368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심층 면접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2배수 내외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(법인승인요청)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 rot="5400000">
            <a:off x="7123176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2" name="Shape 19"/>
          <p:cNvSpPr/>
          <p:nvPr/>
        </p:nvSpPr>
        <p:spPr>
          <a:xfrm>
            <a:off x="7397496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147304" y="2029968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4730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507224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653528" y="356616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 조회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 rot="5400000">
            <a:off x="9400032" y="3204972"/>
            <a:ext cx="201168" cy="210312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8" name="Shape 25"/>
          <p:cNvSpPr/>
          <p:nvPr/>
        </p:nvSpPr>
        <p:spPr>
          <a:xfrm>
            <a:off x="9674352" y="1773936"/>
            <a:ext cx="1920240" cy="3072384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424160" y="20299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42416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84080" y="259689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65792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 임용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66928" y="5175504"/>
            <a:ext cx="5335524" cy="822960"/>
          </a:xfrm>
          <a:prstGeom prst="roundRect">
            <a:avLst>
              <a:gd name="adj" fmla="val 7778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04672" y="517550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487168" y="5175504"/>
            <a:ext cx="3214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평가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59068" y="5175504"/>
            <a:ext cx="5335524" cy="822960"/>
          </a:xfrm>
          <a:prstGeom prst="roundRect">
            <a:avLst>
              <a:gd name="adj" fmla="val 7778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496812" y="517550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 70점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179308" y="5175504"/>
            <a:ext cx="3214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응시원서·자기소개서를 기초로 업무 적합성 종합평가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  APPLICATION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572768"/>
            <a:ext cx="49377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182880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자격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32688" y="244144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234086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「지방공무원법」 제31조에 결격사유에 해당하지 않는 자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32688" y="330098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320040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공고일 현재 취업가능 법정 연령(만 18세) 이상인 자로서 「지방공무원법」 제66조(정년)에 해당되지 않는 자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4370832"/>
            <a:ext cx="4937760" cy="1170432"/>
          </a:xfrm>
          <a:prstGeom prst="roundRect">
            <a:avLst>
              <a:gd name="adj" fmla="val 5469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455371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입력 항목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0118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 ·  자기소개서(800자 이내)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888736" y="1572768"/>
            <a:ext cx="5705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문항 (800자 이내)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5888736" y="2048256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2267712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210312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성장배경, 본인 성격의 장·단점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88736" y="3017520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236976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264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3072384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지원동기 (본교에 지원하게 된 이유와 응시 직종에 본인이 적합하다고 판단되는 이유)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888736" y="3986784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26480" y="4206240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264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041648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후 포부 및 직무 수행 계획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88736" y="4956048"/>
            <a:ext cx="5705856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26480" y="5175504"/>
            <a:ext cx="402336" cy="402336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26480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010912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내 갈등 상황과 이를 해결하기 위한 노력 및 극복했던 경험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 DOCUMENT SCREENING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전형 (1차)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517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등을 평가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행정실장 1명, 외부위원 1명)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직무전문성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5배수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지원동기 및 직업관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성장과정 및 활동경험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33488" y="1517904"/>
            <a:ext cx="4261104" cy="3383280"/>
          </a:xfrm>
          <a:prstGeom prst="roundRect">
            <a:avLst>
              <a:gd name="adj" fmla="val 1892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62672" y="1810512"/>
            <a:ext cx="3602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불성실 작성자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 기준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680960" y="2944368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936992" y="270662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문항과 전혀 무관한 내용을 작성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80960" y="3639312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936992" y="340156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내용 반복 또는 문항별 50% 미만(약 400자) 작성한 경우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4334256"/>
            <a:ext cx="100584" cy="10058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36992" y="40965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기관명을 오기재하여 제출한 경우 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5175504"/>
            <a:ext cx="11027664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66928" y="5175504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 · 합격배수 5배수 내외 — 심사위원 3명(교장 1, 행정실장 1, 외부위원 1)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  INTERVIEW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 심층면접 (2차)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517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및 자기소개서를 기초로 업무 적합성을 종합평가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법인관계자 1명, 외부위원 1명)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6309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직무수행능력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2배수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기본소양·태도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 이해도 및 적응력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발전가능성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33488" y="1517904"/>
            <a:ext cx="4261104" cy="4407408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62672" y="177393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전형별 배점 구성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836408" y="2121408"/>
          <a:ext cx="3255264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7790688" y="43068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8119872" y="4224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8048" y="4224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70점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790688" y="469087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119872" y="46085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528048" y="4608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607808" y="510235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 합산 총 100점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607808" y="54498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최고득점자 순으로 2배수 내외 최종합격 예정자 선정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04  VERIFICATION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8132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 상 자  </a:t>
            </a:r>
            <a:pPr indent="0" marL="0"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검증내용  </a:t>
            </a:r>
            <a:pPr indent="0" marL="0">
              <a:buNone/>
            </a:pPr>
            <a:r>
              <a:rPr lang="en-US" sz="13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 결격사유 해당 여부 확인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1956816"/>
            <a:ext cx="4114800" cy="2286000"/>
          </a:xfrm>
          <a:prstGeom prst="roundRect">
            <a:avLst>
              <a:gd name="adj" fmla="val 2800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96112" y="226771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9806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시행근거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38528" y="27980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사무직원 인사 규정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(신규임용자 구비서류)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51129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검사항목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351129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 채용신체검사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적용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102352" y="19568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결격사유조회 및 범죄경력조회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2352" y="2414016"/>
          <a:ext cx="6492240" cy="914400"/>
        </p:xfrm>
        <a:graphic>
          <a:graphicData uri="http://schemas.openxmlformats.org/drawingml/2006/table">
            <a:tbl>
              <a:tblPr/>
              <a:tblGrid>
                <a:gridCol w="2231136"/>
                <a:gridCol w="2194560"/>
                <a:gridCol w="206654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법령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방법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결격사유 조회 및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범죄경력 조회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「교육공무원법」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「사립학교법」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행정정보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공동이용시스템 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성범죄결격 및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아동학대 범죄전력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「아동·청소년 성보호에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관한 법률」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5469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32688" y="4681728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3종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48716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48716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50468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50468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522208" y="4974336"/>
            <a:ext cx="274320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522208" y="49743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성범죄·아동학대 조회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29184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OTHERS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사항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611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 선정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전형결과를 합산하여 최고득점자 순으로 2배수 내외의 최종합격 예정자를 선정함.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예정자에 대하여 법인에 임용 제청을 요청함.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2544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81728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81728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예비합격자 운영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700016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최종합격자가 임용을 포기하거나 결격사유 발생 등으로 임용이 불가능한 경우에는 차순위자를 임용할 수 있음.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1609344"/>
            <a:ext cx="34564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67344" y="1883664"/>
            <a:ext cx="420624" cy="420624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6734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467344" y="23957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가점 적용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485632" y="2980944"/>
            <a:ext cx="2761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「국가유공자 등 예우 및 지원에 관한 법률」, 「독립유공자 예우에 관한 법률」에 의한 취업지원(보호)대상자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" y="4882896"/>
            <a:ext cx="11027664" cy="877824"/>
          </a:xfrm>
          <a:prstGeom prst="roundRect">
            <a:avLst>
              <a:gd name="adj" fmla="val 7292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6928" y="4882896"/>
            <a:ext cx="11027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채용예정인원이 3명 이하인 경우에는 보훈 가점을 적용하지 않음.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4" y="384048"/>
            <a:ext cx="841248" cy="3602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32688" y="786384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채용 계획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13716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· 기술·관리운영직(9급) 1명 공개채용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6928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2424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30168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30168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630168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 8 / 현원 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55664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배점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100점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455664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30 + 면접 70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43416" y="2103120"/>
            <a:ext cx="2551176" cy="1773936"/>
          </a:xfrm>
          <a:prstGeom prst="roundRect">
            <a:avLst>
              <a:gd name="adj" fmla="val 4124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81160" y="230428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임용일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281160" y="2615184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9281160" y="325526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임용 제청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426110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일정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사전협의·계획 보고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92424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392424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392424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지원서 접수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17920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217920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 및 결격사유 검증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043416" y="479145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043416" y="50292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043416" y="5340096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2027년 사무직원 채용 계획(안)</dc:title>
  <dc:subject>PptxGenJS Presentation</dc:subject>
  <dc:creator>정석항공과학고등학교</dc:creator>
  <cp:lastModifiedBy>정석항공과학고등학교</cp:lastModifiedBy>
  <cp:revision>1</cp:revision>
  <dcterms:created xsi:type="dcterms:W3CDTF">2026-08-31T03:46:13Z</dcterms:created>
  <dcterms:modified xsi:type="dcterms:W3CDTF">2026-08-31T03:46:13Z</dcterms:modified>
</cp:coreProperties>
</file>