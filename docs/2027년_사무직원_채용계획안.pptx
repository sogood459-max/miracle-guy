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1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배점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E2761"/>
              </a:solidFill>
              <a:effectLst/>
            </c:spPr>
          </c:dPt>
          <c:dPt>
            <c:idx val="1"/>
            <c:bubble3D val="0"/>
            <c:spPr>
              <a:solidFill>
                <a:srgbClr val="CADCFC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2차 면접전형</c:v>
                </c:pt>
                <c:pt idx="1">
                  <c:v>1차 서류전형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70</c:v>
                </c:pt>
                <c:pt idx="1">
                  <c:v>30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2027년 사무직원 채용 계획(안) 개요. 기술·관리운영직 9급 1명을 공개채용하며, 2026년 9월 교육청 사전협의부터 2027년 1월 1일 임용까지 진행합니다.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 대비 현원 5명, 결원 3명. 그중 1명은 공개채용, 증치 정원 2명은 기간제로 운영합니다.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정원 8명(행정직 4, 기술·관리운영직 2, 증치 2), 현원 5명. 증치 사유는 15학급당 1명, 1,000Kw 이상 1명입니다.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전체 채용 일정은 5단계로 진행되며, 2027년 1월 1일 임용으로 마무리됩니다.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전형은 지원서 접수 → 서류심사(5배수) → 업무적성 및 심층면접(2배수) → 결격사유 검증 → 최종합격자 결정 순으로 진행됩니다.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지원 자격은 지방공무원법 제31조 결격사유 비해당, 만 18세 이상 정년 미해당자입니다. 자기소개서는 4개 문항, 800자 이내로 작성합니다.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1차 서류전형은 총 30점 만점, 5배수 내외를 선발합니다. 자기소개서 불성실 작성자는 탈락 기준에 따라 배제됩니다.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2차 면접은 70점 만점이며 2배수 내외를 선발합니다. 1·2차 합산 100점 기준으로 최종 순위를 결정합니다.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예정자를 대상으로 채용신체검사, 결격사유·범죄경력 조회, 성범죄 및 아동학대 범죄전력 조회를 실시합니다.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최종합격 예정자는 2배수 내외로 선정하여 법인에 임용 제청합니다. 채용예정인원이 3명 이하이므로 보훈 가점은 적용하지 않습니다.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채용 계획 요약: 1명 공개채용, 결원 3명, 배점 100점, 2027년 1월 1일 임용.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엠블럼">    </p:cNvPr>
          <p:cNvPicPr>
            <a:picLocks noChangeAspect="1"/>
          </p:cNvPicPr>
          <p:nvPr/>
        </p:nvPicPr>
        <p:blipFill>
          <a:blip r:embed="rId1">
            <a:alphaModFix amt="16000"/>
          </a:blip>
          <a:stretch>
            <a:fillRect/>
          </a:stretch>
        </p:blipFill>
        <p:spPr>
          <a:xfrm>
            <a:off x="8046720" y="1691640"/>
            <a:ext cx="3474720" cy="3474720"/>
          </a:xfrm>
          <a:prstGeom prst="rect">
            <a:avLst/>
          </a:prstGeom>
        </p:spPr>
      </p:pic>
      <p:pic>
        <p:nvPicPr>
          <p:cNvPr id="3" name="Image 1" descr="정석항공과학고등학교 교표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" y="457200"/>
            <a:ext cx="1133856" cy="484632"/>
          </a:xfrm>
          <a:prstGeom prst="rect">
            <a:avLst/>
          </a:prstGeom>
        </p:spPr>
      </p:pic>
      <p:sp>
        <p:nvSpPr>
          <p:cNvPr id="4" name="Text 0"/>
          <p:cNvSpPr txBox="1"/>
          <p:nvPr/>
        </p:nvSpPr>
        <p:spPr>
          <a:xfrm>
            <a:off x="914400" y="1737360"/>
            <a:ext cx="76809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(24학급)</a:t>
            </a:r>
            <a:endParaRPr lang="en-US" sz="1500" dirty="0"/>
          </a:p>
        </p:txBody>
      </p:sp>
      <p:sp>
        <p:nvSpPr>
          <p:cNvPr id="5" name="Text 1"/>
          <p:cNvSpPr txBox="1"/>
          <p:nvPr/>
        </p:nvSpPr>
        <p:spPr>
          <a:xfrm>
            <a:off x="914400" y="2148840"/>
            <a:ext cx="82296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2027년 사무직원</a:t>
            </a:r>
            <a:endParaRPr lang="en-US" sz="4600" dirty="0"/>
          </a:p>
          <a:p>
            <a:pPr indent="0" marL="0">
              <a:lnSpc>
                <a:spcPts val="54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</a:t>
            </a:r>
            <a:endParaRPr lang="en-US" sz="4600" dirty="0"/>
          </a:p>
        </p:txBody>
      </p:sp>
      <p:sp>
        <p:nvSpPr>
          <p:cNvPr id="6" name="Shape 2"/>
          <p:cNvSpPr/>
          <p:nvPr/>
        </p:nvSpPr>
        <p:spPr>
          <a:xfrm>
            <a:off x="914400" y="4224528"/>
            <a:ext cx="4892040" cy="512064"/>
          </a:xfrm>
          <a:prstGeom prst="roundRect">
            <a:avLst>
              <a:gd name="adj" fmla="val 50000"/>
            </a:avLst>
          </a:prstGeom>
          <a:solidFill>
            <a:srgbClr val="CADCFC"/>
          </a:solidFill>
          <a:ln/>
        </p:spPr>
      </p:sp>
      <p:sp>
        <p:nvSpPr>
          <p:cNvPr id="7" name="Text 3"/>
          <p:cNvSpPr txBox="1"/>
          <p:nvPr/>
        </p:nvSpPr>
        <p:spPr>
          <a:xfrm>
            <a:off x="914400" y="4224528"/>
            <a:ext cx="489204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기술·관리운영직(9급) 1명 공개채용</a:t>
            </a:r>
            <a:endParaRPr lang="en-US" sz="1500" dirty="0"/>
          </a:p>
        </p:txBody>
      </p:sp>
      <p:sp>
        <p:nvSpPr>
          <p:cNvPr id="8" name="Text 4"/>
          <p:cNvSpPr txBox="1"/>
          <p:nvPr/>
        </p:nvSpPr>
        <p:spPr>
          <a:xfrm>
            <a:off x="91440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사전협의·계획 보고</a:t>
            </a:r>
            <a:endParaRPr lang="en-US" sz="1100" dirty="0"/>
          </a:p>
        </p:txBody>
      </p:sp>
      <p:sp>
        <p:nvSpPr>
          <p:cNvPr id="9" name="Text 5"/>
          <p:cNvSpPr txBox="1"/>
          <p:nvPr/>
        </p:nvSpPr>
        <p:spPr>
          <a:xfrm>
            <a:off x="91440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600" dirty="0"/>
          </a:p>
        </p:txBody>
      </p:sp>
      <p:sp>
        <p:nvSpPr>
          <p:cNvPr id="10" name="Text 6"/>
          <p:cNvSpPr txBox="1"/>
          <p:nvPr/>
        </p:nvSpPr>
        <p:spPr>
          <a:xfrm>
            <a:off x="361188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접수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361188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6309360" y="5230368"/>
            <a:ext cx="24688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100" dirty="0"/>
          </a:p>
        </p:txBody>
      </p:sp>
      <p:sp>
        <p:nvSpPr>
          <p:cNvPr id="13" name="Text 9"/>
          <p:cNvSpPr txBox="1"/>
          <p:nvPr/>
        </p:nvSpPr>
        <p:spPr>
          <a:xfrm>
            <a:off x="6309360" y="5468112"/>
            <a:ext cx="2468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600" dirty="0"/>
          </a:p>
        </p:txBody>
      </p:sp>
      <p:sp>
        <p:nvSpPr>
          <p:cNvPr id="14" name="Text 10"/>
          <p:cNvSpPr txBox="1"/>
          <p:nvPr/>
        </p:nvSpPr>
        <p:spPr>
          <a:xfrm>
            <a:off x="914400" y="6144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 · 학교법인 임용 제청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01  OVERVIEW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 및 채용 사유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Text 4"/>
          <p:cNvSpPr txBox="1"/>
          <p:nvPr/>
        </p:nvSpPr>
        <p:spPr>
          <a:xfrm>
            <a:off x="566928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en-US" sz="4000" dirty="0"/>
          </a:p>
        </p:txBody>
      </p:sp>
      <p:sp>
        <p:nvSpPr>
          <p:cNvPr id="8" name="Text 5"/>
          <p:cNvSpPr txBox="1"/>
          <p:nvPr/>
        </p:nvSpPr>
        <p:spPr>
          <a:xfrm>
            <a:off x="566928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2450592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7"/>
          <p:cNvSpPr txBox="1"/>
          <p:nvPr/>
        </p:nvSpPr>
        <p:spPr>
          <a:xfrm>
            <a:off x="2450592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4000" dirty="0"/>
          </a:p>
        </p:txBody>
      </p:sp>
      <p:sp>
        <p:nvSpPr>
          <p:cNvPr id="11" name="Text 8"/>
          <p:cNvSpPr txBox="1"/>
          <p:nvPr/>
        </p:nvSpPr>
        <p:spPr>
          <a:xfrm>
            <a:off x="2450592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현원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4334256" y="1572768"/>
            <a:ext cx="1700784" cy="1371600"/>
          </a:xfrm>
          <a:prstGeom prst="roundRect">
            <a:avLst>
              <a:gd name="adj" fmla="val 4667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Text 10"/>
          <p:cNvSpPr txBox="1"/>
          <p:nvPr/>
        </p:nvSpPr>
        <p:spPr>
          <a:xfrm>
            <a:off x="4334256" y="1700784"/>
            <a:ext cx="1700784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-3</a:t>
            </a:r>
            <a:endParaRPr lang="en-US" sz="4000" dirty="0"/>
          </a:p>
        </p:txBody>
      </p:sp>
      <p:sp>
        <p:nvSpPr>
          <p:cNvPr id="14" name="Text 11"/>
          <p:cNvSpPr txBox="1"/>
          <p:nvPr/>
        </p:nvSpPr>
        <p:spPr>
          <a:xfrm>
            <a:off x="4334256" y="2377440"/>
            <a:ext cx="1700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발생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566928" y="3127248"/>
            <a:ext cx="5285232" cy="1225296"/>
          </a:xfrm>
          <a:prstGeom prst="roundRect">
            <a:avLst>
              <a:gd name="adj" fmla="val 5224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77824" y="3310128"/>
            <a:ext cx="1371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3400" dirty="0"/>
          </a:p>
        </p:txBody>
      </p:sp>
      <p:sp>
        <p:nvSpPr>
          <p:cNvPr id="17" name="Text 14"/>
          <p:cNvSpPr txBox="1"/>
          <p:nvPr/>
        </p:nvSpPr>
        <p:spPr>
          <a:xfrm>
            <a:off x="877824" y="3877056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2852928" y="3346704"/>
            <a:ext cx="28346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30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 예정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566928" y="4535424"/>
            <a:ext cx="5285232" cy="1005840"/>
          </a:xfrm>
          <a:prstGeom prst="roundRect">
            <a:avLst>
              <a:gd name="adj" fmla="val 6364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0" name="Text 17"/>
          <p:cNvSpPr txBox="1"/>
          <p:nvPr/>
        </p:nvSpPr>
        <p:spPr>
          <a:xfrm>
            <a:off x="877824" y="46451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400" dirty="0"/>
          </a:p>
        </p:txBody>
      </p:sp>
      <p:sp>
        <p:nvSpPr>
          <p:cNvPr id="21" name="Text 18"/>
          <p:cNvSpPr txBox="1"/>
          <p:nvPr/>
        </p:nvSpPr>
        <p:spPr>
          <a:xfrm>
            <a:off x="1938528" y="4645152"/>
            <a:ext cx="37490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증치 정원 — 기간제 인력으로 운영 예정</a:t>
            </a:r>
            <a:endParaRPr lang="en-US" sz="1300" dirty="0"/>
          </a:p>
        </p:txBody>
      </p:sp>
      <p:sp>
        <p:nvSpPr>
          <p:cNvPr id="22" name="Shape 19"/>
          <p:cNvSpPr/>
          <p:nvPr/>
        </p:nvSpPr>
        <p:spPr>
          <a:xfrm>
            <a:off x="6309360" y="1572768"/>
            <a:ext cx="5285232" cy="3968496"/>
          </a:xfrm>
          <a:prstGeom prst="roundRect">
            <a:avLst>
              <a:gd name="adj" fmla="val 161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3" name="Text 20"/>
          <p:cNvSpPr txBox="1"/>
          <p:nvPr/>
        </p:nvSpPr>
        <p:spPr>
          <a:xfrm>
            <a:off x="6675120" y="1828800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사유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6675120" y="2926080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6675120" y="292608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6" name="Text 23"/>
          <p:cNvSpPr txBox="1"/>
          <p:nvPr/>
        </p:nvSpPr>
        <p:spPr>
          <a:xfrm>
            <a:off x="7150608" y="2395728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일반직 정원 8명 대비 현원 5명으로 결원 3명이 발생하여, 안정적인 학교 행정업무 수행을 위한 인력 충원이 필요함.</a:t>
            </a:r>
            <a:endParaRPr lang="en-US" sz="1400" dirty="0"/>
          </a:p>
        </p:txBody>
      </p:sp>
      <p:sp>
        <p:nvSpPr>
          <p:cNvPr id="27" name="Shape 24"/>
          <p:cNvSpPr/>
          <p:nvPr/>
        </p:nvSpPr>
        <p:spPr>
          <a:xfrm>
            <a:off x="6675120" y="4498848"/>
            <a:ext cx="310896" cy="310896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8" name="Text 25"/>
          <p:cNvSpPr txBox="1"/>
          <p:nvPr/>
        </p:nvSpPr>
        <p:spPr>
          <a:xfrm>
            <a:off x="6675120" y="449884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29" name="Text 26"/>
          <p:cNvSpPr txBox="1"/>
          <p:nvPr/>
        </p:nvSpPr>
        <p:spPr>
          <a:xfrm>
            <a:off x="7150608" y="3968496"/>
            <a:ext cx="4078224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4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 3명 중 1명은 공개채용을 통해 충원하고, 증치 정원 2명은 기간제 인력으로 운영하고자 함.</a:t>
            </a:r>
            <a:endParaRPr lang="en-US" sz="1400" dirty="0"/>
          </a:p>
        </p:txBody>
      </p:sp>
      <p:sp>
        <p:nvSpPr>
          <p:cNvPr id="30" name="Text 27"/>
          <p:cNvSpPr txBox="1"/>
          <p:nvPr/>
        </p:nvSpPr>
        <p:spPr>
          <a:xfrm>
            <a:off x="566928" y="5779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인건비는 교육청에서 지원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- 2 -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02  STAFFING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직원 현황</a:t>
            </a:r>
            <a:endParaRPr lang="en-US" sz="3000" dirty="0"/>
          </a:p>
        </p:txBody>
      </p:sp>
      <p:sp>
        <p:nvSpPr>
          <p:cNvPr id="6" name="Text 3"/>
          <p:cNvSpPr txBox="1"/>
          <p:nvPr/>
        </p:nvSpPr>
        <p:spPr>
          <a:xfrm>
            <a:off x="566928" y="1207008"/>
            <a:ext cx="110276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인건비 교육청 지원</a:t>
            </a:r>
            <a:endParaRPr lang="en-US" sz="13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1664208"/>
          <a:ext cx="10844784" cy="914400"/>
        </p:xfrm>
        <a:graphic>
          <a:graphicData uri="http://schemas.openxmlformats.org/drawingml/2006/table">
            <a:tbl>
              <a:tblPr/>
              <a:tblGrid>
                <a:gridCol w="1133856"/>
                <a:gridCol w="658368"/>
                <a:gridCol w="548640"/>
                <a:gridCol w="548640"/>
                <a:gridCol w="548640"/>
                <a:gridCol w="548640"/>
                <a:gridCol w="1060704"/>
                <a:gridCol w="548640"/>
                <a:gridCol w="694944"/>
                <a:gridCol w="603504"/>
                <a:gridCol w="694944"/>
                <a:gridCol w="822960"/>
                <a:gridCol w="2432304"/>
              </a:tblGrid>
              <a:tr h="347472">
                <a:tc rowSpan="3" grid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 hMerge="1">
                  <a:tcPr/>
                </a:tc>
                <a:tc grid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일반직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증치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(기술직)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결원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채용(안)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비고 (증치사유)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 gridSpan="4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hMerge="1">
                  <a:tcPr/>
                </a:tc>
                <a:tc hMerge="1">
                  <a:tcPr/>
                </a:tc>
                <a:tc hMerge="1">
                  <a:tcPr/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기술·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관리운영직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347472">
                <a:tc gridSpan="2" vMerge="1">
                  <a:tcPr/>
                </a:tc>
                <a:tc vMerge="1" h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8급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  <a:tr h="658368"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정석고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(24학급)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정원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B23A34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-3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1명</a:t>
                      </a:r>
                      <a:endParaRPr lang="en-US" sz="14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DEC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- 15학급당 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- 1,000Kw 이상 1명</a:t>
                      </a:r>
                      <a:endParaRPr lang="en-US" sz="11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58368">
                <a:tc vMerge="1">
                  <a:tcPr/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현원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0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  <a:tc vMerge="1">
                  <a:tcPr/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8" name="Text 4"/>
          <p:cNvSpPr txBox="1"/>
          <p:nvPr/>
        </p:nvSpPr>
        <p:spPr>
          <a:xfrm>
            <a:off x="658368" y="41148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증치 정원 2명은 기간제 인력으로 운영 예정</a:t>
            </a:r>
            <a:endParaRPr lang="en-US" sz="1200" dirty="0"/>
          </a:p>
        </p:txBody>
      </p:sp>
      <p:sp>
        <p:nvSpPr>
          <p:cNvPr id="9" name="Shape 5"/>
          <p:cNvSpPr/>
          <p:nvPr/>
        </p:nvSpPr>
        <p:spPr>
          <a:xfrm>
            <a:off x="65836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0" name="Text 6"/>
          <p:cNvSpPr txBox="1"/>
          <p:nvPr/>
        </p:nvSpPr>
        <p:spPr>
          <a:xfrm>
            <a:off x="65836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</a:t>
            </a:r>
            <a:endParaRPr lang="en-US" sz="1100" dirty="0"/>
          </a:p>
        </p:txBody>
      </p:sp>
      <p:sp>
        <p:nvSpPr>
          <p:cNvPr id="11" name="Text 7"/>
          <p:cNvSpPr txBox="1"/>
          <p:nvPr/>
        </p:nvSpPr>
        <p:spPr>
          <a:xfrm>
            <a:off x="65836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8명</a:t>
            </a:r>
            <a:endParaRPr lang="en-US" sz="2100" dirty="0"/>
          </a:p>
        </p:txBody>
      </p:sp>
      <p:sp>
        <p:nvSpPr>
          <p:cNvPr id="12" name="Shape 8"/>
          <p:cNvSpPr/>
          <p:nvPr/>
        </p:nvSpPr>
        <p:spPr>
          <a:xfrm>
            <a:off x="285292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Text 9"/>
          <p:cNvSpPr txBox="1"/>
          <p:nvPr/>
        </p:nvSpPr>
        <p:spPr>
          <a:xfrm>
            <a:off x="285292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현원</a:t>
            </a:r>
            <a:endParaRPr lang="en-US" sz="1100" dirty="0"/>
          </a:p>
        </p:txBody>
      </p:sp>
      <p:sp>
        <p:nvSpPr>
          <p:cNvPr id="14" name="Text 10"/>
          <p:cNvSpPr txBox="1"/>
          <p:nvPr/>
        </p:nvSpPr>
        <p:spPr>
          <a:xfrm>
            <a:off x="285292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5명</a:t>
            </a:r>
            <a:endParaRPr lang="en-US" sz="2100" dirty="0"/>
          </a:p>
        </p:txBody>
      </p:sp>
      <p:sp>
        <p:nvSpPr>
          <p:cNvPr id="15" name="Shape 11"/>
          <p:cNvSpPr/>
          <p:nvPr/>
        </p:nvSpPr>
        <p:spPr>
          <a:xfrm>
            <a:off x="504748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2"/>
          <p:cNvSpPr txBox="1"/>
          <p:nvPr/>
        </p:nvSpPr>
        <p:spPr>
          <a:xfrm>
            <a:off x="504748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100" dirty="0"/>
          </a:p>
        </p:txBody>
      </p:sp>
      <p:sp>
        <p:nvSpPr>
          <p:cNvPr id="17" name="Text 13"/>
          <p:cNvSpPr txBox="1"/>
          <p:nvPr/>
        </p:nvSpPr>
        <p:spPr>
          <a:xfrm>
            <a:off x="504748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100" dirty="0"/>
          </a:p>
        </p:txBody>
      </p:sp>
      <p:sp>
        <p:nvSpPr>
          <p:cNvPr id="18" name="Shape 14"/>
          <p:cNvSpPr/>
          <p:nvPr/>
        </p:nvSpPr>
        <p:spPr>
          <a:xfrm>
            <a:off x="724204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724204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공개채용</a:t>
            </a:r>
            <a:endParaRPr lang="en-US" sz="1100" dirty="0"/>
          </a:p>
        </p:txBody>
      </p:sp>
      <p:sp>
        <p:nvSpPr>
          <p:cNvPr id="20" name="Text 16"/>
          <p:cNvSpPr txBox="1"/>
          <p:nvPr/>
        </p:nvSpPr>
        <p:spPr>
          <a:xfrm>
            <a:off x="724204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100" dirty="0"/>
          </a:p>
        </p:txBody>
      </p:sp>
      <p:sp>
        <p:nvSpPr>
          <p:cNvPr id="21" name="Shape 17"/>
          <p:cNvSpPr/>
          <p:nvPr/>
        </p:nvSpPr>
        <p:spPr>
          <a:xfrm>
            <a:off x="9436608" y="4846320"/>
            <a:ext cx="2011680" cy="1042416"/>
          </a:xfrm>
          <a:prstGeom prst="roundRect">
            <a:avLst>
              <a:gd name="adj" fmla="val 6140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Text 18"/>
          <p:cNvSpPr txBox="1"/>
          <p:nvPr/>
        </p:nvSpPr>
        <p:spPr>
          <a:xfrm>
            <a:off x="9436608" y="4992624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기간제 운영</a:t>
            </a:r>
            <a:endParaRPr lang="en-US" sz="1100" dirty="0"/>
          </a:p>
        </p:txBody>
      </p:sp>
      <p:sp>
        <p:nvSpPr>
          <p:cNvPr id="23" name="Text 19"/>
          <p:cNvSpPr txBox="1"/>
          <p:nvPr/>
        </p:nvSpPr>
        <p:spPr>
          <a:xfrm>
            <a:off x="9436608" y="52852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1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2명</a:t>
            </a:r>
            <a:endParaRPr lang="en-US" sz="2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- 3 -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03  SCHEDULE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316736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316736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94944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계획(안) 보고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658368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 rot="5400000">
            <a:off x="2569464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2" name="Shape 9"/>
          <p:cNvSpPr/>
          <p:nvPr/>
        </p:nvSpPr>
        <p:spPr>
          <a:xfrm>
            <a:off x="2843784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593592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4" name="Text 11"/>
          <p:cNvSpPr txBox="1"/>
          <p:nvPr/>
        </p:nvSpPr>
        <p:spPr>
          <a:xfrm>
            <a:off x="3593592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971800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2935224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 rot="5400000">
            <a:off x="4846320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8" name="Shape 15"/>
          <p:cNvSpPr/>
          <p:nvPr/>
        </p:nvSpPr>
        <p:spPr>
          <a:xfrm>
            <a:off x="5120640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9" name="Shape 16"/>
          <p:cNvSpPr/>
          <p:nvPr/>
        </p:nvSpPr>
        <p:spPr>
          <a:xfrm>
            <a:off x="5870448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0" name="Text 17"/>
          <p:cNvSpPr txBox="1"/>
          <p:nvPr/>
        </p:nvSpPr>
        <p:spPr>
          <a:xfrm>
            <a:off x="5870448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248656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(서류전형, 업무적성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및 심층면접)</a:t>
            </a:r>
            <a:endParaRPr lang="en-US" sz="1300" dirty="0"/>
          </a:p>
        </p:txBody>
      </p:sp>
      <p:sp>
        <p:nvSpPr>
          <p:cNvPr id="22" name="Text 19"/>
          <p:cNvSpPr txBox="1"/>
          <p:nvPr/>
        </p:nvSpPr>
        <p:spPr>
          <a:xfrm>
            <a:off x="5212080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 초</a:t>
            </a:r>
            <a:endParaRPr lang="en-US" sz="1400" dirty="0"/>
          </a:p>
        </p:txBody>
      </p:sp>
      <p:sp>
        <p:nvSpPr>
          <p:cNvPr id="23" name="Shape 20"/>
          <p:cNvSpPr/>
          <p:nvPr/>
        </p:nvSpPr>
        <p:spPr>
          <a:xfrm rot="5400000">
            <a:off x="7123176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4" name="Shape 21"/>
          <p:cNvSpPr/>
          <p:nvPr/>
        </p:nvSpPr>
        <p:spPr>
          <a:xfrm>
            <a:off x="7397496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147304" y="2286000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8147304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525512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합격자 통보 및</a:t>
            </a:r>
            <a:endParaRPr lang="en-US" sz="1300" dirty="0"/>
          </a:p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1300" dirty="0"/>
          </a:p>
        </p:txBody>
      </p:sp>
      <p:sp>
        <p:nvSpPr>
          <p:cNvPr id="28" name="Text 25"/>
          <p:cNvSpPr txBox="1"/>
          <p:nvPr/>
        </p:nvSpPr>
        <p:spPr>
          <a:xfrm>
            <a:off x="7488936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29" name="Shape 26"/>
          <p:cNvSpPr/>
          <p:nvPr/>
        </p:nvSpPr>
        <p:spPr>
          <a:xfrm rot="5400000">
            <a:off x="9400032" y="3278124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30" name="Shape 27"/>
          <p:cNvSpPr/>
          <p:nvPr/>
        </p:nvSpPr>
        <p:spPr>
          <a:xfrm>
            <a:off x="9674352" y="2011680"/>
            <a:ext cx="1920240" cy="2743200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1" name="Shape 28"/>
          <p:cNvSpPr/>
          <p:nvPr/>
        </p:nvSpPr>
        <p:spPr>
          <a:xfrm>
            <a:off x="10424160" y="2286000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2" name="Text 29"/>
          <p:cNvSpPr txBox="1"/>
          <p:nvPr/>
        </p:nvSpPr>
        <p:spPr>
          <a:xfrm>
            <a:off x="10424160" y="2286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802368" y="2834640"/>
            <a:ext cx="16642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300" dirty="0"/>
          </a:p>
        </p:txBody>
      </p:sp>
      <p:sp>
        <p:nvSpPr>
          <p:cNvPr id="34" name="Text 31"/>
          <p:cNvSpPr txBox="1"/>
          <p:nvPr/>
        </p:nvSpPr>
        <p:spPr>
          <a:xfrm>
            <a:off x="9765792" y="397764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5" name="Shape 32"/>
          <p:cNvSpPr/>
          <p:nvPr/>
        </p:nvSpPr>
        <p:spPr>
          <a:xfrm>
            <a:off x="566928" y="5230368"/>
            <a:ext cx="11027664" cy="896112"/>
          </a:xfrm>
          <a:prstGeom prst="roundRect">
            <a:avLst>
              <a:gd name="adj" fmla="val 7143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6" name="Text 33"/>
          <p:cNvSpPr txBox="1"/>
          <p:nvPr/>
        </p:nvSpPr>
        <p:spPr>
          <a:xfrm>
            <a:off x="841248" y="5230368"/>
            <a:ext cx="1047902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사전협의(9월) → 공고·접수(11월) → 전형(12월 초) → 검증·통보(12월) → 임용(2027. 1. 1.)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- 4 -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04  PROCESS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1316736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1316736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676656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 rot="5400000">
            <a:off x="2569464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1" name="Shape 8"/>
          <p:cNvSpPr/>
          <p:nvPr/>
        </p:nvSpPr>
        <p:spPr>
          <a:xfrm>
            <a:off x="2843784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3593592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3593592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2953512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심사</a:t>
            </a:r>
            <a:endParaRPr lang="en-US" sz="1500" dirty="0"/>
          </a:p>
        </p:txBody>
      </p:sp>
      <p:sp>
        <p:nvSpPr>
          <p:cNvPr id="15" name="Text 12"/>
          <p:cNvSpPr txBox="1"/>
          <p:nvPr/>
        </p:nvSpPr>
        <p:spPr>
          <a:xfrm>
            <a:off x="2935224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5배수 내외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 rot="5400000">
            <a:off x="4846320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17" name="Shape 14"/>
          <p:cNvSpPr/>
          <p:nvPr/>
        </p:nvSpPr>
        <p:spPr>
          <a:xfrm>
            <a:off x="5120640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5870448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5870448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5230368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심층 면접</a:t>
            </a:r>
            <a:endParaRPr lang="en-US" sz="1500" dirty="0"/>
          </a:p>
        </p:txBody>
      </p:sp>
      <p:sp>
        <p:nvSpPr>
          <p:cNvPr id="21" name="Text 18"/>
          <p:cNvSpPr txBox="1"/>
          <p:nvPr/>
        </p:nvSpPr>
        <p:spPr>
          <a:xfrm>
            <a:off x="5212080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2배수 내외</a:t>
            </a:r>
            <a:endParaRPr lang="en-US" sz="1250" dirty="0"/>
          </a:p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(법인승인요청)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 rot="5400000">
            <a:off x="7123176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3" name="Shape 20"/>
          <p:cNvSpPr/>
          <p:nvPr/>
        </p:nvSpPr>
        <p:spPr>
          <a:xfrm>
            <a:off x="7397496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8147304" y="2029968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5" name="Text 22"/>
          <p:cNvSpPr txBox="1"/>
          <p:nvPr/>
        </p:nvSpPr>
        <p:spPr>
          <a:xfrm>
            <a:off x="8147304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500" dirty="0"/>
          </a:p>
        </p:txBody>
      </p:sp>
      <p:sp>
        <p:nvSpPr>
          <p:cNvPr id="26" name="Text 23"/>
          <p:cNvSpPr txBox="1"/>
          <p:nvPr/>
        </p:nvSpPr>
        <p:spPr>
          <a:xfrm>
            <a:off x="7507224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</a:t>
            </a:r>
            <a:endParaRPr lang="en-US" sz="1500" dirty="0"/>
          </a:p>
        </p:txBody>
      </p:sp>
      <p:sp>
        <p:nvSpPr>
          <p:cNvPr id="27" name="Text 24"/>
          <p:cNvSpPr txBox="1"/>
          <p:nvPr/>
        </p:nvSpPr>
        <p:spPr>
          <a:xfrm>
            <a:off x="7653528" y="3566160"/>
            <a:ext cx="1517904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15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 조회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 rot="5400000">
            <a:off x="9400032" y="3204972"/>
            <a:ext cx="201168" cy="210312"/>
          </a:xfrm>
          <a:prstGeom prst="triangle">
            <a:avLst/>
          </a:prstGeom>
          <a:solidFill>
            <a:srgbClr val="1E2761"/>
          </a:solidFill>
          <a:ln/>
        </p:spPr>
      </p:sp>
      <p:sp>
        <p:nvSpPr>
          <p:cNvPr id="29" name="Shape 26"/>
          <p:cNvSpPr/>
          <p:nvPr/>
        </p:nvSpPr>
        <p:spPr>
          <a:xfrm>
            <a:off x="9674352" y="1773936"/>
            <a:ext cx="1920240" cy="3072384"/>
          </a:xfrm>
          <a:prstGeom prst="roundRect">
            <a:avLst>
              <a:gd name="adj" fmla="val 3333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10424160" y="2029968"/>
            <a:ext cx="420624" cy="42062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10424160" y="202996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500" dirty="0"/>
          </a:p>
        </p:txBody>
      </p:sp>
      <p:sp>
        <p:nvSpPr>
          <p:cNvPr id="32" name="Text 29"/>
          <p:cNvSpPr txBox="1"/>
          <p:nvPr/>
        </p:nvSpPr>
        <p:spPr>
          <a:xfrm>
            <a:off x="9784080" y="2596896"/>
            <a:ext cx="1700784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</a:t>
            </a:r>
            <a:endParaRPr lang="en-US" sz="1500" dirty="0"/>
          </a:p>
          <a:p>
            <a:pPr algn="ctr" indent="0" marL="0">
              <a:lnSpc>
                <a:spcPts val="21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결정</a:t>
            </a:r>
            <a:endParaRPr lang="en-US" sz="1500" dirty="0"/>
          </a:p>
        </p:txBody>
      </p:sp>
      <p:sp>
        <p:nvSpPr>
          <p:cNvPr id="33" name="Text 30"/>
          <p:cNvSpPr txBox="1"/>
          <p:nvPr/>
        </p:nvSpPr>
        <p:spPr>
          <a:xfrm>
            <a:off x="9765792" y="3694176"/>
            <a:ext cx="173736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800"/>
              </a:lnSpc>
              <a:buNone/>
            </a:pPr>
            <a:r>
              <a:rPr lang="en-US" sz="125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 임용</a:t>
            </a:r>
            <a:endParaRPr lang="en-US" sz="1250" dirty="0"/>
          </a:p>
        </p:txBody>
      </p:sp>
      <p:sp>
        <p:nvSpPr>
          <p:cNvPr id="34" name="Shape 31"/>
          <p:cNvSpPr/>
          <p:nvPr/>
        </p:nvSpPr>
        <p:spPr>
          <a:xfrm>
            <a:off x="56692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5" name="Text 32"/>
          <p:cNvSpPr txBox="1"/>
          <p:nvPr/>
        </p:nvSpPr>
        <p:spPr>
          <a:xfrm>
            <a:off x="80467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</a:t>
            </a:r>
            <a:endParaRPr lang="en-US" sz="1400" dirty="0"/>
          </a:p>
        </p:txBody>
      </p:sp>
      <p:sp>
        <p:nvSpPr>
          <p:cNvPr id="36" name="Text 33"/>
          <p:cNvSpPr txBox="1"/>
          <p:nvPr/>
        </p:nvSpPr>
        <p:spPr>
          <a:xfrm>
            <a:off x="248716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평가</a:t>
            </a:r>
            <a:endParaRPr lang="en-US" sz="1150" dirty="0"/>
          </a:p>
        </p:txBody>
      </p:sp>
      <p:sp>
        <p:nvSpPr>
          <p:cNvPr id="37" name="Shape 34"/>
          <p:cNvSpPr/>
          <p:nvPr/>
        </p:nvSpPr>
        <p:spPr>
          <a:xfrm>
            <a:off x="6259068" y="5175504"/>
            <a:ext cx="5335524" cy="822960"/>
          </a:xfrm>
          <a:prstGeom prst="roundRect">
            <a:avLst>
              <a:gd name="adj" fmla="val 7778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8" name="Text 35"/>
          <p:cNvSpPr txBox="1"/>
          <p:nvPr/>
        </p:nvSpPr>
        <p:spPr>
          <a:xfrm>
            <a:off x="6496812" y="5175504"/>
            <a:ext cx="170078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 70점</a:t>
            </a:r>
            <a:endParaRPr lang="en-US" sz="1400" dirty="0"/>
          </a:p>
        </p:txBody>
      </p:sp>
      <p:sp>
        <p:nvSpPr>
          <p:cNvPr id="39" name="Text 36"/>
          <p:cNvSpPr txBox="1"/>
          <p:nvPr/>
        </p:nvSpPr>
        <p:spPr>
          <a:xfrm>
            <a:off x="8179308" y="5175504"/>
            <a:ext cx="321411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응시원서·자기소개서를 기초로 업무 적합성 종합평가</a:t>
            </a:r>
            <a:endParaRPr lang="en-US" sz="11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- 5 -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1단계 / 4단계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지원서 접수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748272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48272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690104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90104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31936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31936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573768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573768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66928" y="1572768"/>
            <a:ext cx="4937760" cy="2651760"/>
          </a:xfrm>
          <a:prstGeom prst="roundRect">
            <a:avLst>
              <a:gd name="adj" fmla="val 2414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914400" y="1828800"/>
            <a:ext cx="42428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 자격</a:t>
            </a:r>
            <a:endParaRPr lang="en-US" sz="1900" dirty="0"/>
          </a:p>
        </p:txBody>
      </p:sp>
      <p:sp>
        <p:nvSpPr>
          <p:cNvPr id="16" name="Shape 13"/>
          <p:cNvSpPr/>
          <p:nvPr/>
        </p:nvSpPr>
        <p:spPr>
          <a:xfrm>
            <a:off x="932688" y="2441448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7" name="Text 14"/>
          <p:cNvSpPr txBox="1"/>
          <p:nvPr/>
        </p:nvSpPr>
        <p:spPr>
          <a:xfrm>
            <a:off x="1188720" y="2340864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「지방공무원법」 제31조에 결격사유에 해당하지 않는 자</a:t>
            </a:r>
            <a:endParaRPr lang="en-US" sz="1350" dirty="0"/>
          </a:p>
        </p:txBody>
      </p:sp>
      <p:sp>
        <p:nvSpPr>
          <p:cNvPr id="18" name="Shape 15"/>
          <p:cNvSpPr/>
          <p:nvPr/>
        </p:nvSpPr>
        <p:spPr>
          <a:xfrm>
            <a:off x="932688" y="3300984"/>
            <a:ext cx="100584" cy="100584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6"/>
          <p:cNvSpPr txBox="1"/>
          <p:nvPr/>
        </p:nvSpPr>
        <p:spPr>
          <a:xfrm>
            <a:off x="1188720" y="3200400"/>
            <a:ext cx="393192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공고일 현재 취업가능 법정 연령(만 18세) 이상인 자로서 「지방공무원법」 제66조(정년)에 해당되지 않는 자</a:t>
            </a:r>
            <a:endParaRPr lang="en-US" sz="1350" dirty="0"/>
          </a:p>
        </p:txBody>
      </p:sp>
      <p:sp>
        <p:nvSpPr>
          <p:cNvPr id="20" name="Shape 17"/>
          <p:cNvSpPr/>
          <p:nvPr/>
        </p:nvSpPr>
        <p:spPr>
          <a:xfrm>
            <a:off x="566928" y="4370832"/>
            <a:ext cx="4937760" cy="1170432"/>
          </a:xfrm>
          <a:prstGeom prst="roundRect">
            <a:avLst>
              <a:gd name="adj" fmla="val 5469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1" name="Text 18"/>
          <p:cNvSpPr txBox="1"/>
          <p:nvPr/>
        </p:nvSpPr>
        <p:spPr>
          <a:xfrm>
            <a:off x="914400" y="4553712"/>
            <a:ext cx="42428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입력 항목</a:t>
            </a:r>
            <a:endParaRPr lang="en-US" sz="1500" dirty="0"/>
          </a:p>
        </p:txBody>
      </p:sp>
      <p:sp>
        <p:nvSpPr>
          <p:cNvPr id="22" name="Text 19"/>
          <p:cNvSpPr txBox="1"/>
          <p:nvPr/>
        </p:nvSpPr>
        <p:spPr>
          <a:xfrm>
            <a:off x="914400" y="4901184"/>
            <a:ext cx="424281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 ·  자기소개서(800자 이내)</a:t>
            </a:r>
            <a:endParaRPr lang="en-US" sz="1350" dirty="0"/>
          </a:p>
        </p:txBody>
      </p:sp>
      <p:sp>
        <p:nvSpPr>
          <p:cNvPr id="23" name="Text 20"/>
          <p:cNvSpPr txBox="1"/>
          <p:nvPr/>
        </p:nvSpPr>
        <p:spPr>
          <a:xfrm>
            <a:off x="5888736" y="1572768"/>
            <a:ext cx="570585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문항 (800자 이내)</a:t>
            </a:r>
            <a:endParaRPr lang="en-US" sz="1900" dirty="0"/>
          </a:p>
        </p:txBody>
      </p:sp>
      <p:sp>
        <p:nvSpPr>
          <p:cNvPr id="24" name="Shape 21"/>
          <p:cNvSpPr/>
          <p:nvPr/>
        </p:nvSpPr>
        <p:spPr>
          <a:xfrm>
            <a:off x="5888736" y="2048256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6126480" y="2267712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26" name="Text 23"/>
          <p:cNvSpPr txBox="1"/>
          <p:nvPr/>
        </p:nvSpPr>
        <p:spPr>
          <a:xfrm>
            <a:off x="6126480" y="226771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200" dirty="0"/>
          </a:p>
        </p:txBody>
      </p:sp>
      <p:sp>
        <p:nvSpPr>
          <p:cNvPr id="27" name="Text 24"/>
          <p:cNvSpPr txBox="1"/>
          <p:nvPr/>
        </p:nvSpPr>
        <p:spPr>
          <a:xfrm>
            <a:off x="6675120" y="2103120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성장배경, 본인 성격의 장·단점</a:t>
            </a:r>
            <a:endParaRPr lang="en-US" sz="1300" dirty="0"/>
          </a:p>
        </p:txBody>
      </p:sp>
      <p:sp>
        <p:nvSpPr>
          <p:cNvPr id="28" name="Shape 25"/>
          <p:cNvSpPr/>
          <p:nvPr/>
        </p:nvSpPr>
        <p:spPr>
          <a:xfrm>
            <a:off x="5888736" y="3017520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6126480" y="3236976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126480" y="323697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200" dirty="0"/>
          </a:p>
        </p:txBody>
      </p:sp>
      <p:sp>
        <p:nvSpPr>
          <p:cNvPr id="31" name="Text 28"/>
          <p:cNvSpPr txBox="1"/>
          <p:nvPr/>
        </p:nvSpPr>
        <p:spPr>
          <a:xfrm>
            <a:off x="6675120" y="3072384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지원동기 (본교에 지원하게 된 이유와 응시 직종에 본인이 적합하다고 판단되는 이유)</a:t>
            </a:r>
            <a:endParaRPr lang="en-US" sz="1300" dirty="0"/>
          </a:p>
        </p:txBody>
      </p:sp>
      <p:sp>
        <p:nvSpPr>
          <p:cNvPr id="32" name="Shape 29"/>
          <p:cNvSpPr/>
          <p:nvPr/>
        </p:nvSpPr>
        <p:spPr>
          <a:xfrm>
            <a:off x="5888736" y="3986784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3" name="Shape 30"/>
          <p:cNvSpPr/>
          <p:nvPr/>
        </p:nvSpPr>
        <p:spPr>
          <a:xfrm>
            <a:off x="6126480" y="4206240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6126480" y="4206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200" dirty="0"/>
          </a:p>
        </p:txBody>
      </p:sp>
      <p:sp>
        <p:nvSpPr>
          <p:cNvPr id="35" name="Text 32"/>
          <p:cNvSpPr txBox="1"/>
          <p:nvPr/>
        </p:nvSpPr>
        <p:spPr>
          <a:xfrm>
            <a:off x="6675120" y="4041648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입사 후 포부 및 직무 수행 계획</a:t>
            </a:r>
            <a:endParaRPr lang="en-US" sz="1300" dirty="0"/>
          </a:p>
        </p:txBody>
      </p:sp>
      <p:sp>
        <p:nvSpPr>
          <p:cNvPr id="36" name="Shape 33"/>
          <p:cNvSpPr/>
          <p:nvPr/>
        </p:nvSpPr>
        <p:spPr>
          <a:xfrm>
            <a:off x="5888736" y="4956048"/>
            <a:ext cx="5705856" cy="841248"/>
          </a:xfrm>
          <a:prstGeom prst="roundRect">
            <a:avLst>
              <a:gd name="adj" fmla="val 7609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37" name="Shape 34"/>
          <p:cNvSpPr/>
          <p:nvPr/>
        </p:nvSpPr>
        <p:spPr>
          <a:xfrm>
            <a:off x="6126480" y="5175504"/>
            <a:ext cx="402336" cy="402336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6126480" y="517550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200" dirty="0"/>
          </a:p>
        </p:txBody>
      </p:sp>
      <p:sp>
        <p:nvSpPr>
          <p:cNvPr id="39" name="Text 36"/>
          <p:cNvSpPr txBox="1"/>
          <p:nvPr/>
        </p:nvSpPr>
        <p:spPr>
          <a:xfrm>
            <a:off x="6675120" y="5010912"/>
            <a:ext cx="46817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조직 내 갈등 상황과 이를 해결하기 위한 노력 및 극복했던 경험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- 6 -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2단계 / 4단계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전형 (1차)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748272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48272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690104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90104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31936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31936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573768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573768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지원자격 요건 및 자기소개서 작성 성실도 등을 평가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행정실장 1명, 외부위원 1명)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직무전문성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지원동기 및 직업관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성장과정 및 활동경험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표현력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7333488" y="1517904"/>
            <a:ext cx="4261104" cy="3383280"/>
          </a:xfrm>
          <a:prstGeom prst="roundRect">
            <a:avLst>
              <a:gd name="adj" fmla="val 18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7662672" y="1810512"/>
            <a:ext cx="360273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자기소개서 불성실 작성자</a:t>
            </a:r>
            <a:endParaRPr lang="en-US" sz="1800" dirty="0"/>
          </a:p>
          <a:p>
            <a:pPr indent="0" marL="0">
              <a:lnSpc>
                <a:spcPts val="2600"/>
              </a:lnSpc>
              <a:buNone/>
            </a:pPr>
            <a:r>
              <a:rPr lang="en-US" sz="18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탈락 기준</a:t>
            </a:r>
            <a:endParaRPr lang="en-US" sz="1800" dirty="0"/>
          </a:p>
        </p:txBody>
      </p:sp>
      <p:sp>
        <p:nvSpPr>
          <p:cNvPr id="19" name="Shape 15"/>
          <p:cNvSpPr/>
          <p:nvPr/>
        </p:nvSpPr>
        <p:spPr>
          <a:xfrm>
            <a:off x="7680960" y="2944368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0" name="Text 16"/>
          <p:cNvSpPr txBox="1"/>
          <p:nvPr/>
        </p:nvSpPr>
        <p:spPr>
          <a:xfrm>
            <a:off x="7936992" y="2706624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문항과 전혀 무관한 내용을 작성</a:t>
            </a:r>
            <a:endParaRPr lang="en-US" sz="1300" dirty="0"/>
          </a:p>
        </p:txBody>
      </p:sp>
      <p:sp>
        <p:nvSpPr>
          <p:cNvPr id="21" name="Shape 17"/>
          <p:cNvSpPr/>
          <p:nvPr/>
        </p:nvSpPr>
        <p:spPr>
          <a:xfrm>
            <a:off x="7680960" y="3639312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2" name="Text 18"/>
          <p:cNvSpPr txBox="1"/>
          <p:nvPr/>
        </p:nvSpPr>
        <p:spPr>
          <a:xfrm>
            <a:off x="7936992" y="3401568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동일 내용 반복 또는 문항별 50% 미만(약 400자) 작성한 경우</a:t>
            </a:r>
            <a:endParaRPr lang="en-US" sz="1300" dirty="0"/>
          </a:p>
        </p:txBody>
      </p:sp>
      <p:sp>
        <p:nvSpPr>
          <p:cNvPr id="23" name="Shape 19"/>
          <p:cNvSpPr/>
          <p:nvPr/>
        </p:nvSpPr>
        <p:spPr>
          <a:xfrm>
            <a:off x="7680960" y="4334256"/>
            <a:ext cx="100584" cy="100584"/>
          </a:xfrm>
          <a:prstGeom prst="ellipse">
            <a:avLst/>
          </a:prstGeom>
          <a:solidFill>
            <a:srgbClr val="B23A34"/>
          </a:solidFill>
          <a:ln/>
        </p:spPr>
      </p:sp>
      <p:sp>
        <p:nvSpPr>
          <p:cNvPr id="24" name="Text 20"/>
          <p:cNvSpPr txBox="1"/>
          <p:nvPr/>
        </p:nvSpPr>
        <p:spPr>
          <a:xfrm>
            <a:off x="7936992" y="4096512"/>
            <a:ext cx="329184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기관명을 오기재하여 제출한 경우 등</a:t>
            </a:r>
            <a:endParaRPr lang="en-US" sz="1300" dirty="0"/>
          </a:p>
        </p:txBody>
      </p:sp>
      <p:sp>
        <p:nvSpPr>
          <p:cNvPr id="25" name="Shape 21"/>
          <p:cNvSpPr/>
          <p:nvPr/>
        </p:nvSpPr>
        <p:spPr>
          <a:xfrm>
            <a:off x="566928" y="5175504"/>
            <a:ext cx="11027664" cy="749808"/>
          </a:xfrm>
          <a:prstGeom prst="roundRect">
            <a:avLst>
              <a:gd name="adj" fmla="val 8537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6" name="Text 22"/>
          <p:cNvSpPr txBox="1"/>
          <p:nvPr/>
        </p:nvSpPr>
        <p:spPr>
          <a:xfrm>
            <a:off x="566928" y="5175504"/>
            <a:ext cx="11027664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 30점 · 합격배수 5배수 내외 — 심사위원 3명(교장 1, 행정실장 1, 외부위원 1)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- 7 -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3단계 / 4단계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업무적성 및 심층면접 (2차)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748272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48272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690104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90104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31936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31936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573768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573768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517904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평가방법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응시원서 및 자기소개서를 기초로 업무 적합성을 종합평가</a:t>
            </a:r>
            <a:endParaRPr lang="en-US" sz="1300" dirty="0"/>
          </a:p>
        </p:txBody>
      </p:sp>
      <p:sp>
        <p:nvSpPr>
          <p:cNvPr id="15" name="Text 12"/>
          <p:cNvSpPr txBox="1"/>
          <p:nvPr/>
        </p:nvSpPr>
        <p:spPr>
          <a:xfrm>
            <a:off x="566928" y="1828800"/>
            <a:ext cx="6309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심사위원  </a:t>
            </a:r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 (교장 1명, 법인관계자 1명, 외부위원 1명)</a:t>
            </a:r>
            <a:endParaRPr lang="en-US" sz="13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86000"/>
          <a:ext cx="630936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1554480"/>
                <a:gridCol w="155448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평가항목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배 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합격배수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직무수행능력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5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2배수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7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내외</a:t>
                      </a:r>
                      <a:endParaRPr lang="en-US" sz="17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기본소양·태도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조직 이해도 및 적응력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발전가능성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15점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  <a:tr h="43891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3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합계</a:t>
                      </a:r>
                      <a:endParaRPr lang="en-US" sz="13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50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70점</a:t>
                      </a:r>
                      <a:endParaRPr lang="en-US" sz="15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BFE"/>
                    </a:solidFill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17" name="Shape 13"/>
          <p:cNvSpPr/>
          <p:nvPr/>
        </p:nvSpPr>
        <p:spPr>
          <a:xfrm>
            <a:off x="7333488" y="1517904"/>
            <a:ext cx="4261104" cy="4407408"/>
          </a:xfrm>
          <a:prstGeom prst="roundRect">
            <a:avLst>
              <a:gd name="adj" fmla="val 1502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8" name="Text 14"/>
          <p:cNvSpPr txBox="1"/>
          <p:nvPr/>
        </p:nvSpPr>
        <p:spPr>
          <a:xfrm>
            <a:off x="7662672" y="1773936"/>
            <a:ext cx="360273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전형별 배점 구성</a:t>
            </a:r>
            <a:endParaRPr lang="en-US" sz="1800" dirty="0"/>
          </a:p>
        </p:txBody>
      </p:sp>
      <p:graphicFrame>
        <p:nvGraphicFramePr>
          <p:cNvPr id="19" name="Chart 0" descr=""/>
          <p:cNvGraphicFramePr/>
          <p:nvPr/>
        </p:nvGraphicFramePr>
        <p:xfrm>
          <a:off x="7836408" y="2121408"/>
          <a:ext cx="3255264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20" name="Shape 15"/>
          <p:cNvSpPr/>
          <p:nvPr/>
        </p:nvSpPr>
        <p:spPr>
          <a:xfrm>
            <a:off x="7790688" y="4306824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1E2761"/>
          </a:solidFill>
          <a:ln/>
        </p:spPr>
      </p:sp>
      <p:sp>
        <p:nvSpPr>
          <p:cNvPr id="21" name="Text 16"/>
          <p:cNvSpPr txBox="1"/>
          <p:nvPr/>
        </p:nvSpPr>
        <p:spPr>
          <a:xfrm>
            <a:off x="8119872" y="4224528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2차 면접전형</a:t>
            </a:r>
            <a:endParaRPr lang="en-US" sz="1300" dirty="0"/>
          </a:p>
        </p:txBody>
      </p:sp>
      <p:sp>
        <p:nvSpPr>
          <p:cNvPr id="22" name="Text 17"/>
          <p:cNvSpPr txBox="1"/>
          <p:nvPr/>
        </p:nvSpPr>
        <p:spPr>
          <a:xfrm>
            <a:off x="9528048" y="4224528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70점</a:t>
            </a:r>
            <a:endParaRPr lang="en-US" sz="1500" dirty="0"/>
          </a:p>
        </p:txBody>
      </p:sp>
      <p:sp>
        <p:nvSpPr>
          <p:cNvPr id="23" name="Shape 18"/>
          <p:cNvSpPr/>
          <p:nvPr/>
        </p:nvSpPr>
        <p:spPr>
          <a:xfrm>
            <a:off x="7790688" y="4690872"/>
            <a:ext cx="182880" cy="182880"/>
          </a:xfrm>
          <a:prstGeom prst="roundRect">
            <a:avLst>
              <a:gd name="adj" fmla="val 25000"/>
            </a:avLst>
          </a:prstGeom>
          <a:solidFill>
            <a:srgbClr val="CADCFC"/>
          </a:solidFill>
          <a:ln/>
        </p:spPr>
      </p:sp>
      <p:sp>
        <p:nvSpPr>
          <p:cNvPr id="24" name="Text 19"/>
          <p:cNvSpPr txBox="1"/>
          <p:nvPr/>
        </p:nvSpPr>
        <p:spPr>
          <a:xfrm>
            <a:off x="8119872" y="4608576"/>
            <a:ext cx="2011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1차 서류전형</a:t>
            </a:r>
            <a:endParaRPr lang="en-US" sz="1300" dirty="0"/>
          </a:p>
        </p:txBody>
      </p:sp>
      <p:sp>
        <p:nvSpPr>
          <p:cNvPr id="25" name="Text 20"/>
          <p:cNvSpPr txBox="1"/>
          <p:nvPr/>
        </p:nvSpPr>
        <p:spPr>
          <a:xfrm>
            <a:off x="9528048" y="4608576"/>
            <a:ext cx="12801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30점</a:t>
            </a:r>
            <a:endParaRPr lang="en-US" sz="1500" dirty="0"/>
          </a:p>
        </p:txBody>
      </p:sp>
      <p:sp>
        <p:nvSpPr>
          <p:cNvPr id="26" name="Text 21"/>
          <p:cNvSpPr txBox="1"/>
          <p:nvPr/>
        </p:nvSpPr>
        <p:spPr>
          <a:xfrm>
            <a:off x="7607808" y="5102352"/>
            <a:ext cx="37124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 합산 총 100점</a:t>
            </a:r>
            <a:endParaRPr lang="en-US" sz="1500" dirty="0"/>
          </a:p>
        </p:txBody>
      </p:sp>
      <p:sp>
        <p:nvSpPr>
          <p:cNvPr id="27" name="Text 22"/>
          <p:cNvSpPr txBox="1"/>
          <p:nvPr/>
        </p:nvSpPr>
        <p:spPr>
          <a:xfrm>
            <a:off x="7607808" y="5449824"/>
            <a:ext cx="37124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최고득점자 순으로 2배수 내외 최종합격 예정자 선정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- 8 -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절차   4단계 / 4단계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검증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6748272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748272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 접수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7690104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7690104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서류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631936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E8EFFC"/>
          </a:solidFill>
          <a:ln/>
        </p:spPr>
      </p:sp>
      <p:sp>
        <p:nvSpPr>
          <p:cNvPr id="11" name="Text 8"/>
          <p:cNvSpPr txBox="1"/>
          <p:nvPr/>
        </p:nvSpPr>
        <p:spPr>
          <a:xfrm>
            <a:off x="8631936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8A93AD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면접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9573768" y="566928"/>
            <a:ext cx="868680" cy="402336"/>
          </a:xfrm>
          <a:prstGeom prst="roundRect">
            <a:avLst>
              <a:gd name="adj" fmla="val 50000"/>
            </a:avLst>
          </a:prstGeom>
          <a:solidFill>
            <a:srgbClr val="1E2761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9573768" y="566928"/>
            <a:ext cx="868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검증</a:t>
            </a:r>
            <a:endParaRPr lang="en-US" sz="1150" dirty="0"/>
          </a:p>
        </p:txBody>
      </p:sp>
      <p:sp>
        <p:nvSpPr>
          <p:cNvPr id="14" name="Text 11"/>
          <p:cNvSpPr txBox="1"/>
          <p:nvPr/>
        </p:nvSpPr>
        <p:spPr>
          <a:xfrm>
            <a:off x="566928" y="1481328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대 상 자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</a:t>
            </a:r>
            <a:pPr indent="0" marL="0">
              <a:buNone/>
            </a:pPr>
            <a:r>
              <a:rPr lang="en-US" sz="135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         검증내용  </a:t>
            </a:r>
            <a:pPr indent="0" marL="0">
              <a:buNone/>
            </a:pPr>
            <a:r>
              <a:rPr lang="en-US" sz="135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 결격사유 해당 여부 확인</a:t>
            </a:r>
            <a:endParaRPr lang="en-US" sz="1350" dirty="0"/>
          </a:p>
        </p:txBody>
      </p:sp>
      <p:sp>
        <p:nvSpPr>
          <p:cNvPr id="15" name="Shape 12"/>
          <p:cNvSpPr/>
          <p:nvPr/>
        </p:nvSpPr>
        <p:spPr>
          <a:xfrm>
            <a:off x="566928" y="1956816"/>
            <a:ext cx="4114800" cy="2286000"/>
          </a:xfrm>
          <a:prstGeom prst="roundRect">
            <a:avLst>
              <a:gd name="adj" fmla="val 2800"/>
            </a:avLst>
          </a:prstGeom>
          <a:solidFill>
            <a:srgbClr val="1E2761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6" name="Text 13"/>
          <p:cNvSpPr txBox="1"/>
          <p:nvPr/>
        </p:nvSpPr>
        <p:spPr>
          <a:xfrm>
            <a:off x="896112" y="2267712"/>
            <a:ext cx="34564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2000" dirty="0"/>
          </a:p>
        </p:txBody>
      </p:sp>
      <p:sp>
        <p:nvSpPr>
          <p:cNvPr id="17" name="Text 14"/>
          <p:cNvSpPr txBox="1"/>
          <p:nvPr/>
        </p:nvSpPr>
        <p:spPr>
          <a:xfrm>
            <a:off x="896112" y="2798064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시행근거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1938528" y="2798064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사무직원 인사 규정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(신규임용자 구비서류)</a:t>
            </a:r>
            <a:endParaRPr lang="en-US" sz="1250" dirty="0"/>
          </a:p>
        </p:txBody>
      </p:sp>
      <p:sp>
        <p:nvSpPr>
          <p:cNvPr id="19" name="Text 16"/>
          <p:cNvSpPr txBox="1"/>
          <p:nvPr/>
        </p:nvSpPr>
        <p:spPr>
          <a:xfrm>
            <a:off x="896112" y="3511296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검사항목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1938528" y="3511296"/>
            <a:ext cx="24140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공무원 채용신체검사</a:t>
            </a:r>
            <a:endParaRPr lang="en-US" sz="12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25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규정 적용</a:t>
            </a:r>
            <a:endParaRPr lang="en-US" sz="1250" dirty="0"/>
          </a:p>
        </p:txBody>
      </p:sp>
      <p:sp>
        <p:nvSpPr>
          <p:cNvPr id="21" name="Text 18"/>
          <p:cNvSpPr txBox="1"/>
          <p:nvPr/>
        </p:nvSpPr>
        <p:spPr>
          <a:xfrm>
            <a:off x="5102352" y="1956816"/>
            <a:ext cx="64922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결격사유조회 및 범죄경력조회</a:t>
            </a:r>
            <a:endParaRPr lang="en-US" sz="18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102352" y="2414016"/>
          <a:ext cx="6492240" cy="914400"/>
        </p:xfrm>
        <a:graphic>
          <a:graphicData uri="http://schemas.openxmlformats.org/drawingml/2006/table">
            <a:tbl>
              <a:tblPr/>
              <a:tblGrid>
                <a:gridCol w="2231136"/>
                <a:gridCol w="2194560"/>
                <a:gridCol w="2066544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구분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근거 법령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조회 방법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결격사유 조회 및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범죄경력 조회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「교육공무원법」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「사립학교법」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rowSpan="2"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행정정보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50" b="1" dirty="0">
                          <a:solidFill>
                            <a:srgbClr val="1E2761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공동이용시스템 이용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성범죄결격 및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아동학대 범죄전력 조회</a:t>
                      </a:r>
                      <a:endParaRPr lang="en-US" sz="1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「아동·청소년 성보호에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50" dirty="0">
                          <a:solidFill>
                            <a:srgbClr val="22263A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관한 법률」</a:t>
                      </a:r>
                      <a:endParaRPr lang="en-US" sz="125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6CE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vMerge="1">
                  <a:tcPr/>
                </a:tc>
              </a:tr>
            </a:tbl>
          </a:graphicData>
        </a:graphic>
      </p:graphicFrame>
      <p:sp>
        <p:nvSpPr>
          <p:cNvPr id="23" name="Shape 19"/>
          <p:cNvSpPr/>
          <p:nvPr/>
        </p:nvSpPr>
        <p:spPr>
          <a:xfrm>
            <a:off x="566928" y="4681728"/>
            <a:ext cx="11027664" cy="1170432"/>
          </a:xfrm>
          <a:prstGeom prst="roundRect">
            <a:avLst>
              <a:gd name="adj" fmla="val 5469"/>
            </a:avLst>
          </a:prstGeom>
          <a:solidFill>
            <a:srgbClr val="E8EFF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4" name="Text 20"/>
          <p:cNvSpPr txBox="1"/>
          <p:nvPr/>
        </p:nvSpPr>
        <p:spPr>
          <a:xfrm>
            <a:off x="932688" y="4681728"/>
            <a:ext cx="1371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검증 3종</a:t>
            </a:r>
            <a:endParaRPr lang="en-US" sz="1600" dirty="0"/>
          </a:p>
        </p:txBody>
      </p:sp>
      <p:sp>
        <p:nvSpPr>
          <p:cNvPr id="25" name="Shape 21"/>
          <p:cNvSpPr/>
          <p:nvPr/>
        </p:nvSpPr>
        <p:spPr>
          <a:xfrm>
            <a:off x="248716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6" name="Text 22"/>
          <p:cNvSpPr txBox="1"/>
          <p:nvPr/>
        </p:nvSpPr>
        <p:spPr>
          <a:xfrm>
            <a:off x="248716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채용신체검사</a:t>
            </a:r>
            <a:endParaRPr lang="en-US" sz="1300" dirty="0"/>
          </a:p>
        </p:txBody>
      </p:sp>
      <p:sp>
        <p:nvSpPr>
          <p:cNvPr id="27" name="Shape 23"/>
          <p:cNvSpPr/>
          <p:nvPr/>
        </p:nvSpPr>
        <p:spPr>
          <a:xfrm>
            <a:off x="550468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28" name="Text 24"/>
          <p:cNvSpPr txBox="1"/>
          <p:nvPr/>
        </p:nvSpPr>
        <p:spPr>
          <a:xfrm>
            <a:off x="550468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결격사유 조회</a:t>
            </a:r>
            <a:endParaRPr lang="en-US" sz="1300" dirty="0"/>
          </a:p>
        </p:txBody>
      </p:sp>
      <p:sp>
        <p:nvSpPr>
          <p:cNvPr id="29" name="Shape 25"/>
          <p:cNvSpPr/>
          <p:nvPr/>
        </p:nvSpPr>
        <p:spPr>
          <a:xfrm>
            <a:off x="8522208" y="4974336"/>
            <a:ext cx="2743200" cy="58521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/>
        </p:spPr>
      </p:sp>
      <p:sp>
        <p:nvSpPr>
          <p:cNvPr id="30" name="Text 26"/>
          <p:cNvSpPr txBox="1"/>
          <p:nvPr/>
        </p:nvSpPr>
        <p:spPr>
          <a:xfrm>
            <a:off x="8522208" y="4974336"/>
            <a:ext cx="27432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성범죄·아동학대 조회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- 9 -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566928" y="329184"/>
            <a:ext cx="110276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6B7186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05  OTHERS</a:t>
            </a:r>
            <a:endParaRPr lang="en-US" sz="1200" dirty="0"/>
          </a:p>
        </p:txBody>
      </p:sp>
      <p:sp>
        <p:nvSpPr>
          <p:cNvPr id="5" name="Text 2"/>
          <p:cNvSpPr txBox="1"/>
          <p:nvPr/>
        </p:nvSpPr>
        <p:spPr>
          <a:xfrm>
            <a:off x="566928" y="566928"/>
            <a:ext cx="1102766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기타 사항</a:t>
            </a:r>
            <a:endParaRPr lang="en-US" sz="3000" dirty="0"/>
          </a:p>
        </p:txBody>
      </p:sp>
      <p:sp>
        <p:nvSpPr>
          <p:cNvPr id="6" name="Shape 3"/>
          <p:cNvSpPr/>
          <p:nvPr/>
        </p:nvSpPr>
        <p:spPr>
          <a:xfrm>
            <a:off x="566928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896112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8" name="Text 5"/>
          <p:cNvSpPr txBox="1"/>
          <p:nvPr/>
        </p:nvSpPr>
        <p:spPr>
          <a:xfrm>
            <a:off x="896112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6"/>
          <p:cNvSpPr txBox="1"/>
          <p:nvPr/>
        </p:nvSpPr>
        <p:spPr>
          <a:xfrm>
            <a:off x="896112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 선정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914400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전형결과를 합산하여 최고득점자 순으로 2배수 내외의 최종합격 예정자를 선정함.</a:t>
            </a:r>
            <a:endParaRPr lang="en-US" sz="1300" dirty="0"/>
          </a:p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 예정자에 대하여 법인에 임용 제청을 요청함.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352544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4681728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4681728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 txBox="1"/>
          <p:nvPr/>
        </p:nvSpPr>
        <p:spPr>
          <a:xfrm>
            <a:off x="4681728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예비합격자 운영</a:t>
            </a:r>
            <a:endParaRPr lang="en-US" sz="1800" dirty="0"/>
          </a:p>
        </p:txBody>
      </p:sp>
      <p:sp>
        <p:nvSpPr>
          <p:cNvPr id="15" name="Text 12"/>
          <p:cNvSpPr txBox="1"/>
          <p:nvPr/>
        </p:nvSpPr>
        <p:spPr>
          <a:xfrm>
            <a:off x="4700016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최종합격자가 임용을 포기하거나 결격사유 발생 등으로 임용이 불가능한 경우에는 차순위자를 임용할 수 있음.</a:t>
            </a:r>
            <a:endParaRPr lang="en-US" sz="1300" dirty="0"/>
          </a:p>
        </p:txBody>
      </p:sp>
      <p:sp>
        <p:nvSpPr>
          <p:cNvPr id="16" name="Shape 13"/>
          <p:cNvSpPr/>
          <p:nvPr/>
        </p:nvSpPr>
        <p:spPr>
          <a:xfrm>
            <a:off x="8138160" y="1609344"/>
            <a:ext cx="3456432" cy="2926080"/>
          </a:xfrm>
          <a:prstGeom prst="roundRect">
            <a:avLst>
              <a:gd name="adj" fmla="val 2188"/>
            </a:avLst>
          </a:prstGeom>
          <a:solidFill>
            <a:srgbClr val="FFFFFF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8467344" y="1883664"/>
            <a:ext cx="420624" cy="420624"/>
          </a:xfrm>
          <a:prstGeom prst="ellipse">
            <a:avLst/>
          </a:prstGeom>
          <a:solidFill>
            <a:srgbClr val="E8EFFC"/>
          </a:solidFill>
          <a:ln/>
        </p:spPr>
      </p:sp>
      <p:sp>
        <p:nvSpPr>
          <p:cNvPr id="18" name="Text 15"/>
          <p:cNvSpPr txBox="1"/>
          <p:nvPr/>
        </p:nvSpPr>
        <p:spPr>
          <a:xfrm>
            <a:off x="8467344" y="188366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6"/>
          <p:cNvSpPr txBox="1"/>
          <p:nvPr/>
        </p:nvSpPr>
        <p:spPr>
          <a:xfrm>
            <a:off x="8467344" y="2395728"/>
            <a:ext cx="279806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276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가점 적용</a:t>
            </a:r>
            <a:endParaRPr lang="en-US" sz="1800" dirty="0"/>
          </a:p>
        </p:txBody>
      </p:sp>
      <p:sp>
        <p:nvSpPr>
          <p:cNvPr id="20" name="Text 17"/>
          <p:cNvSpPr txBox="1"/>
          <p:nvPr/>
        </p:nvSpPr>
        <p:spPr>
          <a:xfrm>
            <a:off x="8485632" y="2980944"/>
            <a:ext cx="276148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2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22263A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「국가유공자 등 예우 및 지원에 관한 법률」, 「독립유공자 예우에 관한 법률」에 의한 취업지원(보호)대상자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566928" y="4882896"/>
            <a:ext cx="11027664" cy="877824"/>
          </a:xfrm>
          <a:prstGeom prst="roundRect">
            <a:avLst>
              <a:gd name="adj" fmla="val 7292"/>
            </a:avLst>
          </a:prstGeom>
          <a:solidFill>
            <a:srgbClr val="FBEDEC"/>
          </a:solidFill>
          <a:ln w="12700">
            <a:solidFill>
              <a:srgbClr val="E3E8F4"/>
            </a:solidFill>
            <a:prstDash val="solid"/>
          </a:ln>
          <a:effectLst>
            <a:outerShdw sx="100000" sy="100000" kx="0" ky="0" algn="bl" rotWithShape="0" blurRad="101600" dist="25400" dir="5400000">
              <a:srgbClr val="1E2761">
                <a:alpha val="10000"/>
              </a:srgbClr>
            </a:outerShdw>
          </a:effectLst>
        </p:spPr>
      </p:sp>
      <p:sp>
        <p:nvSpPr>
          <p:cNvPr id="22" name="Text 19"/>
          <p:cNvSpPr txBox="1"/>
          <p:nvPr/>
        </p:nvSpPr>
        <p:spPr>
          <a:xfrm>
            <a:off x="566928" y="4882896"/>
            <a:ext cx="11027664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B23A3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채용예정인원이 3명 이하인 경우에는 보훈 가점을 적용하지 않음.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정석항공과학고등학교 교표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753344" y="384048"/>
            <a:ext cx="841248" cy="36027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166360" y="630936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8E9AC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- 10 -</a:t>
            </a:r>
            <a:endParaRPr lang="en-US" sz="1100" dirty="0"/>
          </a:p>
        </p:txBody>
      </p:sp>
      <p:sp>
        <p:nvSpPr>
          <p:cNvPr id="4" name="Text 1"/>
          <p:cNvSpPr txBox="1"/>
          <p:nvPr/>
        </p:nvSpPr>
        <p:spPr>
          <a:xfrm>
            <a:off x="932688" y="786384"/>
            <a:ext cx="110276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한눈에 보는 채용 계획</a:t>
            </a:r>
            <a:endParaRPr lang="en-US" sz="3200" dirty="0"/>
          </a:p>
        </p:txBody>
      </p:sp>
      <p:sp>
        <p:nvSpPr>
          <p:cNvPr id="5" name="Text 2"/>
          <p:cNvSpPr txBox="1"/>
          <p:nvPr/>
        </p:nvSpPr>
        <p:spPr>
          <a:xfrm>
            <a:off x="932688" y="1371600"/>
            <a:ext cx="1102766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정석항공과학고등학교 · 기술·관리운영직(9급) 1명 공개채용</a:t>
            </a:r>
            <a:endParaRPr lang="en-US" sz="1400" dirty="0"/>
          </a:p>
        </p:txBody>
      </p:sp>
      <p:sp>
        <p:nvSpPr>
          <p:cNvPr id="6" name="Shape 3"/>
          <p:cNvSpPr/>
          <p:nvPr/>
        </p:nvSpPr>
        <p:spPr>
          <a:xfrm>
            <a:off x="566928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804672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 인원</a:t>
            </a:r>
            <a:endParaRPr lang="en-US" sz="1200" dirty="0"/>
          </a:p>
        </p:txBody>
      </p:sp>
      <p:sp>
        <p:nvSpPr>
          <p:cNvPr id="8" name="Text 5"/>
          <p:cNvSpPr txBox="1"/>
          <p:nvPr/>
        </p:nvSpPr>
        <p:spPr>
          <a:xfrm>
            <a:off x="804672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1명</a:t>
            </a:r>
            <a:endParaRPr lang="en-US" sz="2800" dirty="0"/>
          </a:p>
        </p:txBody>
      </p:sp>
      <p:sp>
        <p:nvSpPr>
          <p:cNvPr id="9" name="Text 6"/>
          <p:cNvSpPr txBox="1"/>
          <p:nvPr/>
        </p:nvSpPr>
        <p:spPr>
          <a:xfrm>
            <a:off x="804672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기술·관리운영직 9급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92424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3630168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결원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3630168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3명</a:t>
            </a:r>
            <a:endParaRPr lang="en-US" sz="2800" dirty="0"/>
          </a:p>
        </p:txBody>
      </p:sp>
      <p:sp>
        <p:nvSpPr>
          <p:cNvPr id="13" name="Text 10"/>
          <p:cNvSpPr txBox="1"/>
          <p:nvPr/>
        </p:nvSpPr>
        <p:spPr>
          <a:xfrm>
            <a:off x="3630168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정원 8 / 현원 5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6217920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55664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전형 배점</a:t>
            </a:r>
            <a:endParaRPr lang="en-US" sz="1200" dirty="0"/>
          </a:p>
        </p:txBody>
      </p:sp>
      <p:sp>
        <p:nvSpPr>
          <p:cNvPr id="16" name="Text 13"/>
          <p:cNvSpPr txBox="1"/>
          <p:nvPr/>
        </p:nvSpPr>
        <p:spPr>
          <a:xfrm>
            <a:off x="6455664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100점</a:t>
            </a:r>
            <a:endParaRPr lang="en-US" sz="2800" dirty="0"/>
          </a:p>
        </p:txBody>
      </p:sp>
      <p:sp>
        <p:nvSpPr>
          <p:cNvPr id="17" name="Text 14"/>
          <p:cNvSpPr txBox="1"/>
          <p:nvPr/>
        </p:nvSpPr>
        <p:spPr>
          <a:xfrm>
            <a:off x="6455664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서류 30 + 면접 70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9043416" y="2103120"/>
            <a:ext cx="2551176" cy="1773936"/>
          </a:xfrm>
          <a:prstGeom prst="roundRect">
            <a:avLst>
              <a:gd name="adj" fmla="val 4124"/>
            </a:avLst>
          </a:prstGeom>
          <a:solidFill>
            <a:srgbClr val="141B44"/>
          </a:solidFill>
          <a:ln w="12700">
            <a:solidFill>
              <a:srgbClr val="34406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9281160" y="2304288"/>
            <a:ext cx="2075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임용일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9281160" y="2615184"/>
            <a:ext cx="20756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2800" dirty="0"/>
          </a:p>
        </p:txBody>
      </p:sp>
      <p:sp>
        <p:nvSpPr>
          <p:cNvPr id="21" name="Text 18"/>
          <p:cNvSpPr txBox="1"/>
          <p:nvPr/>
        </p:nvSpPr>
        <p:spPr>
          <a:xfrm>
            <a:off x="9281160" y="3255264"/>
            <a:ext cx="207568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법인 임용 제청</a:t>
            </a:r>
            <a:endParaRPr lang="en-US" sz="1150" dirty="0"/>
          </a:p>
        </p:txBody>
      </p:sp>
      <p:sp>
        <p:nvSpPr>
          <p:cNvPr id="22" name="Text 19"/>
          <p:cNvSpPr txBox="1"/>
          <p:nvPr/>
        </p:nvSpPr>
        <p:spPr>
          <a:xfrm>
            <a:off x="566928" y="4261104"/>
            <a:ext cx="110276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ADC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추진 일정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566928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4" name="Text 21"/>
          <p:cNvSpPr txBox="1"/>
          <p:nvPr/>
        </p:nvSpPr>
        <p:spPr>
          <a:xfrm>
            <a:off x="566928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9월</a:t>
            </a:r>
            <a:endParaRPr lang="en-US" sz="1400" dirty="0"/>
          </a:p>
        </p:txBody>
      </p:sp>
      <p:sp>
        <p:nvSpPr>
          <p:cNvPr id="25" name="Text 22"/>
          <p:cNvSpPr txBox="1"/>
          <p:nvPr/>
        </p:nvSpPr>
        <p:spPr>
          <a:xfrm>
            <a:off x="566928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교육청 사전협의·계획 보고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3392424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27" name="Text 24"/>
          <p:cNvSpPr txBox="1"/>
          <p:nvPr/>
        </p:nvSpPr>
        <p:spPr>
          <a:xfrm>
            <a:off x="3392424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11월</a:t>
            </a:r>
            <a:endParaRPr lang="en-US" sz="1400" dirty="0"/>
          </a:p>
        </p:txBody>
      </p:sp>
      <p:sp>
        <p:nvSpPr>
          <p:cNvPr id="28" name="Text 25"/>
          <p:cNvSpPr txBox="1"/>
          <p:nvPr/>
        </p:nvSpPr>
        <p:spPr>
          <a:xfrm>
            <a:off x="3392424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채용공고 및 지원서 접수</a:t>
            </a:r>
            <a:endParaRPr lang="en-US" sz="1200" dirty="0"/>
          </a:p>
        </p:txBody>
      </p:sp>
      <p:sp>
        <p:nvSpPr>
          <p:cNvPr id="29" name="Shape 26"/>
          <p:cNvSpPr/>
          <p:nvPr/>
        </p:nvSpPr>
        <p:spPr>
          <a:xfrm>
            <a:off x="6217920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0" name="Text 27"/>
          <p:cNvSpPr txBox="1"/>
          <p:nvPr/>
        </p:nvSpPr>
        <p:spPr>
          <a:xfrm>
            <a:off x="6217920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2026. 12월</a:t>
            </a:r>
            <a:endParaRPr lang="en-US" sz="1400" dirty="0"/>
          </a:p>
        </p:txBody>
      </p:sp>
      <p:sp>
        <p:nvSpPr>
          <p:cNvPr id="31" name="Text 28"/>
          <p:cNvSpPr txBox="1"/>
          <p:nvPr/>
        </p:nvSpPr>
        <p:spPr>
          <a:xfrm>
            <a:off x="6217920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1·2차 전형 및 결격사유 검증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9043416" y="4791456"/>
            <a:ext cx="146304" cy="146304"/>
          </a:xfrm>
          <a:prstGeom prst="ellipse">
            <a:avLst/>
          </a:prstGeom>
          <a:solidFill>
            <a:srgbClr val="CADCFC"/>
          </a:solidFill>
          <a:ln/>
        </p:spPr>
      </p:sp>
      <p:sp>
        <p:nvSpPr>
          <p:cNvPr id="33" name="Text 30"/>
          <p:cNvSpPr txBox="1"/>
          <p:nvPr/>
        </p:nvSpPr>
        <p:spPr>
          <a:xfrm>
            <a:off x="9043416" y="5029200"/>
            <a:ext cx="2551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2027. 1. 1.</a:t>
            </a:r>
            <a:endParaRPr lang="en-US" sz="1400" dirty="0"/>
          </a:p>
        </p:txBody>
      </p:sp>
      <p:sp>
        <p:nvSpPr>
          <p:cNvPr id="34" name="Text 31"/>
          <p:cNvSpPr txBox="1"/>
          <p:nvPr/>
        </p:nvSpPr>
        <p:spPr>
          <a:xfrm>
            <a:off x="9043416" y="5340096"/>
            <a:ext cx="245973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9AA6C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임용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2027년 사무직원 채용 계획(안)</dc:title>
  <dc:subject>PptxGenJS Presentation</dc:subject>
  <dc:creator>정석항공과학고등학교</dc:creator>
  <cp:lastModifiedBy>정석항공과학고등학교</cp:lastModifiedBy>
  <cp:revision>1</cp:revision>
  <dcterms:created xsi:type="dcterms:W3CDTF">2026-08-31T03:58:36Z</dcterms:created>
  <dcterms:modified xsi:type="dcterms:W3CDTF">2026-08-31T03:58:36Z</dcterms:modified>
</cp:coreProperties>
</file>