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2027년 사무직원 채용 계획(안) 개요. 기술·관리운영직 9급 1명을 공개채용하며, 2026년 9월 교육청 사전협의부터 2027년 1월 1일 임용까지 진행합니다.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목차 — 채용 인원 및 사유부터 채용 계획 요약까지 10개 항목으로 구성되며, 5~8은 전형 4단계에 해당합니다.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정원 8명 대비 현원 5명, 결원 3명. 그중 1명은 공개채용, 증치 정원 2명은 기간제로 운영합니다.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정원 8명(행정직 4, 기술·관리운영직 2, 증치 2), 현원 5명. 증치 사유는 15학급당 1명, 1,000Kw 이상 1명입니다.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전체 채용 일정은 5단계로 진행되며, 2027년 1월 1일 임용으로 마무리됩니다.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전형은 지원서 접수 → 서류심사(5배수) → 업무적성 및 심층면접(2배수) → 결격사유 검증 → 최종합격자 결정 순으로 진행됩니다.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지원 자격은 지방공무원법 제31조 결격사유 비해당, 만 18세 이상 정년 미해당자입니다. 자기소개서는 4개 문항, 800자 이내로 작성합니다.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1차 서류전형은 총 30점 만점, 5배수 내외를 선발합니다. 자기소개서 불성실 작성자는 탈락 기준에 따라 배제됩니다.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2차 면접은 70점 만점이며 2배수 내외를 선발합니다. 1·2차 합산 100점 기준으로 최종 순위를 결정합니다.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최종합격 예정자를 대상으로 채용신체검사, 결격사유·범죄경력 조회, 성범죄 및 아동학대 범죄전력 조회를 실시합니다.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최종합격 예정자는 2배수 내외로 선정하여 법인에 임용 제청합니다. 채용예정인원이 3명 이하이므로 보훈 가점은 적용하지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채용 계획 요약: 1명 공개채용, 결원 3명, 배점 100점, 2027년 1월 1일 임용.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20256"/>
            <a:ext cx="9144000" cy="23774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23774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929384"/>
            <a:ext cx="9144000" cy="192938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2212848"/>
            <a:ext cx="8229600" cy="841248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38100" dir="2700000">
              <a:srgbClr val="000000">
                <a:alpha val="43000"/>
              </a:srgbClr>
            </a:outerShdw>
          </a:effectLst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2027년 사무직원 채용 계획(안)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312724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기술·관리운영직(9급) 1명 공개채용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4297680"/>
            <a:ext cx="8229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700" dirty="0">
                <a:solidFill>
                  <a:srgbClr val="263F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2026.  9.</a:t>
            </a:r>
            <a:endParaRPr lang="en-US" sz="1700" dirty="0"/>
          </a:p>
        </p:txBody>
      </p:sp>
      <p:pic>
        <p:nvPicPr>
          <p:cNvPr id="8" name="Image 0" descr="정석항공과학고등학교 엠블럼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99232" y="5175504"/>
            <a:ext cx="658368" cy="6583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3785616" y="5175504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정석항공과학고등학교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20256"/>
            <a:ext cx="9144000" cy="23774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822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[ 목     차 ]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1051560" y="1188720"/>
            <a:ext cx="7040880" cy="4443984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9848" y="2944368"/>
            <a:ext cx="7004304" cy="1609344"/>
          </a:xfrm>
          <a:prstGeom prst="rect">
            <a:avLst/>
          </a:prstGeom>
          <a:solidFill>
            <a:srgbClr val="EFF9FC"/>
          </a:solidFill>
          <a:ln w="6350">
            <a:solidFill>
              <a:srgbClr val="EFF9F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25880" y="138988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965960" y="138988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인원 및 채용 사유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792224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965960" y="1792224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직원 현황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219456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965960" y="219456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계획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596896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965960" y="2596896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전형 절차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2999232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965960" y="299923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지원서 접수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0" y="299923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150" dirty="0">
                <a:solidFill>
                  <a:srgbClr val="4040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 전형 1단계 ]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340156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965960" y="340156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서류 전형 (1차)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035040" y="340156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150" dirty="0">
                <a:solidFill>
                  <a:srgbClr val="4040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 전형 2단계 ]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3803904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965960" y="3803904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업무적성 및 심층면접 (2차)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6035040" y="380390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150" dirty="0">
                <a:solidFill>
                  <a:srgbClr val="4040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 전형 3단계 ]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1325880" y="420624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1965960" y="42062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 검증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6035040" y="42062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150" dirty="0">
                <a:solidFill>
                  <a:srgbClr val="4040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 전형 4단계 ]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1325880" y="4608576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1965960" y="4608576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기타 사항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1325880" y="5010912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1965960" y="501091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계획 요약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1051560" y="5760720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5 ~ 8은 전형 4단계에 해당함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20256"/>
            <a:ext cx="9144000" cy="23774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8229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1. 채용 인원 및 채용 사유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424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채용 인원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1389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1389888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기술·관리운영직(9급) 1명 공개채용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9385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채용 사유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228600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228600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일반직 정원 8명 대비 현원 5명으로 결원 3명이 발생하여, 안정적인 학교 행정업무 수행을 위한 인력 충원이 필요함.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296265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2962656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결원 3명 중 1명은 공개채용을 통해 충원하고, 증치 정원 2명은 기간제 인력으로 운영하고자 함.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7124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채용 개요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078224"/>
          <a:ext cx="82296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2468880"/>
                <a:gridCol w="1280160"/>
                <a:gridCol w="1554480"/>
                <a:gridCol w="1645920"/>
              </a:tblGrid>
              <a:tr h="329184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직종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채용 인원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채용 방법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임용 예정일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사무직원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기술·관리운영직(9급)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1명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공개채용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2027. 1. 1.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2"/>
          <p:cNvSpPr txBox="1"/>
          <p:nvPr/>
        </p:nvSpPr>
        <p:spPr>
          <a:xfrm>
            <a:off x="457200" y="497433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인건비는 교육청에서 지원</a:t>
            </a:r>
            <a:endParaRPr lang="en-US" sz="1050" dirty="0"/>
          </a:p>
        </p:txBody>
      </p:sp>
      <p:sp>
        <p:nvSpPr>
          <p:cNvPr id="17" name="Text 13"/>
          <p:cNvSpPr txBox="1"/>
          <p:nvPr/>
        </p:nvSpPr>
        <p:spPr>
          <a:xfrm>
            <a:off x="365760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10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20256"/>
            <a:ext cx="9144000" cy="23774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8229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2. 직원 현황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424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일반직 정원 및 현원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760720" y="1060704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(인건비 교육청 지원, 단위 : 명)</a:t>
            </a:r>
            <a:endParaRPr lang="en-US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548640"/>
                <a:gridCol w="492770"/>
                <a:gridCol w="492770"/>
                <a:gridCol w="492770"/>
                <a:gridCol w="492770"/>
                <a:gridCol w="914400"/>
                <a:gridCol w="492770"/>
                <a:gridCol w="492770"/>
                <a:gridCol w="492770"/>
                <a:gridCol w="492770"/>
                <a:gridCol w="492770"/>
                <a:gridCol w="1417320"/>
              </a:tblGrid>
              <a:tr h="292608">
                <a:tc rowSpan="3" grid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rowSpan="3" hMerge="1">
                  <a:tcPr/>
                </a:tc>
                <a:tc gridSpan="5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일반직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rowSpan="3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rowSpan="3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증치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(기술직)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rowSpan="3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rowSpan="3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rowSpan="3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채용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(안)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rowSpan="3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비고 (증치사유)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</a:tr>
              <a:tr h="292608">
                <a:tc gridSpan="2" vMerge="1">
                  <a:tcPr/>
                </a:tc>
                <a:tc vMerge="1" hMerge="1">
                  <a:tcPr/>
                </a:tc>
                <a:tc gridSpan="4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행정직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기술·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관리운영직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  <a:tr h="292608">
                <a:tc gridSpan="2" vMerge="1">
                  <a:tcPr/>
                </a:tc>
                <a:tc vMerge="1" hMerge="1">
                  <a:tcPr/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5급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6급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7급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8급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  <a:tr h="512064"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정석고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(24학급)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△3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- 15학급당  1명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l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- 1,000Kw 이상 1명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 vMerge="1">
                  <a:tcPr/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현원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334670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증치 정원 2명은 기간제 인력으로 운영 예정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0390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결원 3명 충원 방안</a:t>
            </a:r>
            <a:endParaRPr lang="en-US" sz="140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169664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97280"/>
                <a:gridCol w="1097280"/>
                <a:gridCol w="1097280"/>
                <a:gridCol w="1920240"/>
                <a:gridCol w="1920240"/>
              </a:tblGrid>
              <a:tr h="310896"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현원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grid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결원 3명 충원 방안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 hMerge="1">
                  <a:tcPr/>
                </a:tc>
              </a:tr>
              <a:tr h="310896"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공개채용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기간제 운영 (증치 정원)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일반직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8명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5명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3명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1명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2명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457200" y="535838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결원 3명 = 공개채용 1명 + 기간제 운영 2명</a:t>
            </a:r>
            <a:endParaRPr lang="en-US" sz="1050" dirty="0"/>
          </a:p>
        </p:txBody>
      </p:sp>
      <p:sp>
        <p:nvSpPr>
          <p:cNvPr id="13" name="Text 8"/>
          <p:cNvSpPr txBox="1"/>
          <p:nvPr/>
        </p:nvSpPr>
        <p:spPr>
          <a:xfrm>
            <a:off x="365760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10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20256"/>
            <a:ext cx="9144000" cy="23774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8229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3. 채용 계획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424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추진 절차 및 일정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783080"/>
            <a:ext cx="14630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783080"/>
            <a:ext cx="1353312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교육청 사전협의 및</a:t>
            </a:r>
            <a:endParaRPr lang="en-US" sz="1150" dirty="0"/>
          </a:p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계획(안) 보고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4142232"/>
            <a:ext cx="1463040" cy="384048"/>
          </a:xfrm>
          <a:prstGeom prst="rect">
            <a:avLst/>
          </a:prstGeom>
          <a:solidFill>
            <a:srgbClr val="CC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93776" y="4142232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9월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 rot="5400000">
            <a:off x="1943100" y="3063240"/>
            <a:ext cx="182880" cy="182880"/>
          </a:xfrm>
          <a:prstGeom prst="triangle">
            <a:avLst/>
          </a:prstGeom>
          <a:solidFill>
            <a:srgbClr val="000000"/>
          </a:solidFill>
          <a:ln/>
        </p:spPr>
      </p:sp>
      <p:sp>
        <p:nvSpPr>
          <p:cNvPr id="11" name="Shape 9"/>
          <p:cNvSpPr/>
          <p:nvPr/>
        </p:nvSpPr>
        <p:spPr>
          <a:xfrm>
            <a:off x="2148840" y="1783080"/>
            <a:ext cx="14630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203704" y="1783080"/>
            <a:ext cx="1353312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채용공고 및</a:t>
            </a:r>
            <a:endParaRPr lang="en-US" sz="1150" dirty="0"/>
          </a:p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지원서 접수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2148840" y="4142232"/>
            <a:ext cx="1463040" cy="384048"/>
          </a:xfrm>
          <a:prstGeom prst="rect">
            <a:avLst/>
          </a:prstGeom>
          <a:solidFill>
            <a:srgbClr val="CC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185416" y="4142232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11월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 rot="5400000">
            <a:off x="3634740" y="3063240"/>
            <a:ext cx="182880" cy="182880"/>
          </a:xfrm>
          <a:prstGeom prst="triangle">
            <a:avLst/>
          </a:prstGeom>
          <a:solidFill>
            <a:srgbClr val="000000"/>
          </a:solidFill>
          <a:ln/>
        </p:spPr>
      </p:sp>
      <p:sp>
        <p:nvSpPr>
          <p:cNvPr id="16" name="Shape 14"/>
          <p:cNvSpPr/>
          <p:nvPr/>
        </p:nvSpPr>
        <p:spPr>
          <a:xfrm>
            <a:off x="3840480" y="1783080"/>
            <a:ext cx="14630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895344" y="1783080"/>
            <a:ext cx="1353312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1·2차 전형</a:t>
            </a:r>
            <a:endParaRPr lang="en-US" sz="1150" dirty="0"/>
          </a:p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(서류전형, 업무적성</a:t>
            </a:r>
            <a:endParaRPr lang="en-US" sz="1150" dirty="0"/>
          </a:p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및 심층면접)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840480" y="4142232"/>
            <a:ext cx="1463040" cy="384048"/>
          </a:xfrm>
          <a:prstGeom prst="rect">
            <a:avLst/>
          </a:prstGeom>
          <a:solidFill>
            <a:srgbClr val="CC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877056" y="4142232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12월 초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 rot="5400000">
            <a:off x="5326380" y="3063240"/>
            <a:ext cx="182880" cy="182880"/>
          </a:xfrm>
          <a:prstGeom prst="triangle">
            <a:avLst/>
          </a:prstGeom>
          <a:solidFill>
            <a:srgbClr val="000000"/>
          </a:solidFill>
          <a:ln/>
        </p:spPr>
      </p:sp>
      <p:sp>
        <p:nvSpPr>
          <p:cNvPr id="21" name="Shape 19"/>
          <p:cNvSpPr/>
          <p:nvPr/>
        </p:nvSpPr>
        <p:spPr>
          <a:xfrm>
            <a:off x="5532120" y="1783080"/>
            <a:ext cx="14630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586984" y="1783080"/>
            <a:ext cx="1353312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합격자 통보 및</a:t>
            </a:r>
            <a:endParaRPr lang="en-US" sz="1150" dirty="0"/>
          </a:p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 검증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532120" y="4142232"/>
            <a:ext cx="1463040" cy="384048"/>
          </a:xfrm>
          <a:prstGeom prst="rect">
            <a:avLst/>
          </a:prstGeom>
          <a:solidFill>
            <a:srgbClr val="CC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568696" y="4142232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12월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 rot="5400000">
            <a:off x="7018020" y="3063240"/>
            <a:ext cx="182880" cy="182880"/>
          </a:xfrm>
          <a:prstGeom prst="triangle">
            <a:avLst/>
          </a:prstGeom>
          <a:solidFill>
            <a:srgbClr val="000000"/>
          </a:solidFill>
          <a:ln/>
        </p:spPr>
      </p:sp>
      <p:sp>
        <p:nvSpPr>
          <p:cNvPr id="26" name="Shape 24"/>
          <p:cNvSpPr/>
          <p:nvPr/>
        </p:nvSpPr>
        <p:spPr>
          <a:xfrm>
            <a:off x="7223760" y="1783080"/>
            <a:ext cx="14630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278624" y="1783080"/>
            <a:ext cx="1353312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임용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7223760" y="4142232"/>
            <a:ext cx="1463040" cy="384048"/>
          </a:xfrm>
          <a:prstGeom prst="rect">
            <a:avLst/>
          </a:prstGeom>
          <a:solidFill>
            <a:srgbClr val="CC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260336" y="4142232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2027. 1. 1.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47548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1·2차 전형은 2026. 12월 초 실시하며, 최종합격 예정자는 법인 임용 제청을 거쳐 2027. 1. 1. 임용 예정</a:t>
            </a:r>
            <a:endParaRPr lang="en-US" sz="1050" dirty="0"/>
          </a:p>
        </p:txBody>
      </p:sp>
      <p:sp>
        <p:nvSpPr>
          <p:cNvPr id="32" name="Text 29"/>
          <p:cNvSpPr txBox="1"/>
          <p:nvPr/>
        </p:nvSpPr>
        <p:spPr>
          <a:xfrm>
            <a:off x="365760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10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20256"/>
            <a:ext cx="9144000" cy="23774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8229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4. 전형 절차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424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전형 단계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481328"/>
            <a:ext cx="14630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481328"/>
            <a:ext cx="1353312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지원서 접수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3108960"/>
            <a:ext cx="1463040" cy="384048"/>
          </a:xfrm>
          <a:prstGeom prst="rect">
            <a:avLst/>
          </a:prstGeom>
          <a:solidFill>
            <a:srgbClr val="CC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93776" y="3108960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 rot="5400000">
            <a:off x="1943100" y="2395728"/>
            <a:ext cx="182880" cy="182880"/>
          </a:xfrm>
          <a:prstGeom prst="triangle">
            <a:avLst/>
          </a:prstGeom>
          <a:solidFill>
            <a:srgbClr val="000000"/>
          </a:solidFill>
          <a:ln/>
        </p:spPr>
      </p:sp>
      <p:sp>
        <p:nvSpPr>
          <p:cNvPr id="11" name="Shape 9"/>
          <p:cNvSpPr/>
          <p:nvPr/>
        </p:nvSpPr>
        <p:spPr>
          <a:xfrm>
            <a:off x="2148840" y="1481328"/>
            <a:ext cx="14630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203704" y="1481328"/>
            <a:ext cx="1353312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서류 심사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2148840" y="3108960"/>
            <a:ext cx="1463040" cy="384048"/>
          </a:xfrm>
          <a:prstGeom prst="rect">
            <a:avLst/>
          </a:prstGeom>
          <a:solidFill>
            <a:srgbClr val="CC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185416" y="3108960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5배수 내외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 rot="5400000">
            <a:off x="3634740" y="2395728"/>
            <a:ext cx="182880" cy="182880"/>
          </a:xfrm>
          <a:prstGeom prst="triangle">
            <a:avLst/>
          </a:prstGeom>
          <a:solidFill>
            <a:srgbClr val="000000"/>
          </a:solidFill>
          <a:ln/>
        </p:spPr>
      </p:sp>
      <p:sp>
        <p:nvSpPr>
          <p:cNvPr id="16" name="Shape 14"/>
          <p:cNvSpPr/>
          <p:nvPr/>
        </p:nvSpPr>
        <p:spPr>
          <a:xfrm>
            <a:off x="3840480" y="1481328"/>
            <a:ext cx="14630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895344" y="1481328"/>
            <a:ext cx="1353312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업무적성 및</a:t>
            </a:r>
            <a:endParaRPr lang="en-US" sz="1150" dirty="0"/>
          </a:p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심층 면접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840480" y="3108960"/>
            <a:ext cx="1463040" cy="384048"/>
          </a:xfrm>
          <a:prstGeom prst="rect">
            <a:avLst/>
          </a:prstGeom>
          <a:solidFill>
            <a:srgbClr val="CC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877056" y="3108960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2배수 내외</a:t>
            </a:r>
            <a:endParaRPr lang="en-US" sz="1050" dirty="0"/>
          </a:p>
          <a:p>
            <a:pPr eaLnBrk="0" latinLnBrk="0"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(법인승인요청)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 rot="5400000">
            <a:off x="5326380" y="2395728"/>
            <a:ext cx="182880" cy="182880"/>
          </a:xfrm>
          <a:prstGeom prst="triangle">
            <a:avLst/>
          </a:prstGeom>
          <a:solidFill>
            <a:srgbClr val="000000"/>
          </a:solidFill>
          <a:ln/>
        </p:spPr>
      </p:sp>
      <p:sp>
        <p:nvSpPr>
          <p:cNvPr id="21" name="Shape 19"/>
          <p:cNvSpPr/>
          <p:nvPr/>
        </p:nvSpPr>
        <p:spPr>
          <a:xfrm>
            <a:off x="5532120" y="1481328"/>
            <a:ext cx="14630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586984" y="1481328"/>
            <a:ext cx="1353312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 검증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532120" y="3108960"/>
            <a:ext cx="1463040" cy="384048"/>
          </a:xfrm>
          <a:prstGeom prst="rect">
            <a:avLst/>
          </a:prstGeom>
          <a:solidFill>
            <a:srgbClr val="CC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568696" y="3108960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채용신체검사</a:t>
            </a:r>
            <a:endParaRPr lang="en-US" sz="1050" dirty="0"/>
          </a:p>
          <a:p>
            <a:pPr eaLnBrk="0" latinLnBrk="0"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결격사유·성범죄 조회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 rot="5400000">
            <a:off x="7018020" y="2395728"/>
            <a:ext cx="182880" cy="182880"/>
          </a:xfrm>
          <a:prstGeom prst="triangle">
            <a:avLst/>
          </a:prstGeom>
          <a:solidFill>
            <a:srgbClr val="000000"/>
          </a:solidFill>
          <a:ln/>
        </p:spPr>
      </p:sp>
      <p:sp>
        <p:nvSpPr>
          <p:cNvPr id="26" name="Shape 24"/>
          <p:cNvSpPr/>
          <p:nvPr/>
        </p:nvSpPr>
        <p:spPr>
          <a:xfrm>
            <a:off x="7223760" y="1481328"/>
            <a:ext cx="14630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278624" y="1481328"/>
            <a:ext cx="1353312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최종합격자 결정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7223760" y="3108960"/>
            <a:ext cx="1463040" cy="384048"/>
          </a:xfrm>
          <a:prstGeom prst="rect">
            <a:avLst/>
          </a:prstGeom>
          <a:solidFill>
            <a:srgbClr val="CC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260336" y="3108960"/>
            <a:ext cx="13898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 1. 1. 임용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387705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전형별 배점 및 합격배수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42816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3931920"/>
                <a:gridCol w="1280160"/>
                <a:gridCol w="1645920"/>
              </a:tblGrid>
              <a:tr h="310896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평가 내용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합격배수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1차 서류전형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지원자격 요건 및 자기소개서 작성 성실도 평가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5배수 내외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2차 면접전형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응시원서·자기소개서를 기초로 업무 적합성 종합평가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70점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2배수 내외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1·2차 전형결과 합산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</a:tr>
            </a:tbl>
          </a:graphicData>
        </a:graphic>
      </p:graphicFrame>
      <p:sp>
        <p:nvSpPr>
          <p:cNvPr id="33" name="Text 29"/>
          <p:cNvSpPr txBox="1"/>
          <p:nvPr/>
        </p:nvSpPr>
        <p:spPr>
          <a:xfrm>
            <a:off x="365760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10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20256"/>
            <a:ext cx="9144000" cy="23774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8229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5. 지원서 접수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4937760" y="201168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 전형 1단계 / 4단계 ]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0424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지원 자격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389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1389888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「지방공무원법」 제31조에 결격사유에 해당하지 않는 자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17007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1700784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공고일 현재 취업가능 법정 연령(만 18세) 이상인 자로서 「지방공무원법」 제66조(정년)에 해당되지 않는 자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23957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응시원서 입력 항목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274320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2743200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응시원서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" y="305409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914400" y="3054096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자기소개서 (800자 이내)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3419856"/>
          <a:ext cx="77724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040880"/>
              </a:tblGrid>
              <a:tr h="310896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자기소개서 문 항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성장배경, 본인 성격의 장·단점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②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지원동기 (본교에 지원하게 된 이유와 응시 직종에 본인이 적합하다고 판단되는 이유)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③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입사 후 포부 및 직무 수행 계획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④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조직 내 갈등 상황과 이를 해결하기 위한 노력 및 극복했던 경험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8" name="Text 14"/>
          <p:cNvSpPr txBox="1"/>
          <p:nvPr/>
        </p:nvSpPr>
        <p:spPr>
          <a:xfrm>
            <a:off x="365760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/ 10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20256"/>
            <a:ext cx="9144000" cy="23774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8229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6. 서류 전형 (1차)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4937760" y="201168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 전형 2단계 / 4단계 ]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0424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평가방법 및 심사위원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389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1389888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평가방법 : 지원자격 요건 및 자기소개서 작성 성실도 등을 평가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17007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1700784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심사위원 : 3명 (교장 1명, 행정실장 1명, 외부위원 1명)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21579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평가 항목 및 배점</a:t>
            </a:r>
            <a:endParaRPr lang="en-US" sz="1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523744"/>
          <a:ext cx="60350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463040"/>
                <a:gridCol w="1463040"/>
              </a:tblGrid>
              <a:tr h="310896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평가항목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 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합격배수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직무전문성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5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5배수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지원동기 및 직업관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329184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성장과정 및 활동경험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329184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표현력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 vMerge="1">
                  <a:tcPr/>
                </a:tc>
              </a:tr>
            </a:tbl>
          </a:graphicData>
        </a:graphic>
      </p:graphicFrame>
      <p:sp>
        <p:nvSpPr>
          <p:cNvPr id="13" name="Text 10"/>
          <p:cNvSpPr txBox="1"/>
          <p:nvPr/>
        </p:nvSpPr>
        <p:spPr>
          <a:xfrm>
            <a:off x="457200" y="46268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자기소개서 불성실 작성자 탈락 기준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932688" y="4974336"/>
            <a:ext cx="182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1133856" y="4974336"/>
            <a:ext cx="7461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문항과 전혀 무관한 내용을 작성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932688" y="5248656"/>
            <a:ext cx="182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133856" y="5248656"/>
            <a:ext cx="7461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동일 내용 반복 또는 문항별 50% 미만(약 400자) 작성한 경우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932688" y="5522976"/>
            <a:ext cx="182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133856" y="5522976"/>
            <a:ext cx="7461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기관명을 오기재하여 제출한 경우 등</a:t>
            </a:r>
            <a:endParaRPr lang="en-US" sz="1100" dirty="0"/>
          </a:p>
        </p:txBody>
      </p:sp>
      <p:sp>
        <p:nvSpPr>
          <p:cNvPr id="21" name="Text 17"/>
          <p:cNvSpPr txBox="1"/>
          <p:nvPr/>
        </p:nvSpPr>
        <p:spPr>
          <a:xfrm>
            <a:off x="365760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/ 10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20256"/>
            <a:ext cx="9144000" cy="23774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8229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7. 업무적성 및 심층면접 (2차)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4937760" y="201168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 전형 3단계 / 4단계 ]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0424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평가방법 및 심사위원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389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1389888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평가방법 : 응시원서 및 자기소개서를 기초로 업무 적합성을 종합평가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17007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1700784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심사위원 : 3명 (교장 1명, 법인관계자 1명, 외부위원 1명)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21579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평가 항목 및 배점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523744"/>
          <a:ext cx="60350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463040"/>
                <a:gridCol w="1463040"/>
              </a:tblGrid>
              <a:tr h="310896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평가항목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 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합격배수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직무수행능력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5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2배수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기본소양·태도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329184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조직 이해도 및 적응력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329184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발전가능성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70점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  <a:tc vMerge="1">
                  <a:tcPr/>
                </a:tc>
              </a:tr>
            </a:tbl>
          </a:graphicData>
        </a:graphic>
      </p:graphicFrame>
      <p:sp>
        <p:nvSpPr>
          <p:cNvPr id="13" name="Text 10"/>
          <p:cNvSpPr txBox="1"/>
          <p:nvPr/>
        </p:nvSpPr>
        <p:spPr>
          <a:xfrm>
            <a:off x="457200" y="46268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최종합격 예정자 선정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932688" y="4974336"/>
            <a:ext cx="182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1133856" y="4974336"/>
            <a:ext cx="7461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1·2차 전형결과를 합산(총 100점)하여 최고득점자 순으로 2배수 내외의 최종합격 예정자를 선정함.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932688" y="5248656"/>
            <a:ext cx="182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133856" y="5248656"/>
            <a:ext cx="7461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최종합격 예정자에 대하여 법인에 임용 제청을 요청함.</a:t>
            </a:r>
            <a:endParaRPr lang="en-US" sz="1100" dirty="0"/>
          </a:p>
        </p:txBody>
      </p:sp>
      <p:sp>
        <p:nvSpPr>
          <p:cNvPr id="19" name="Text 15"/>
          <p:cNvSpPr txBox="1"/>
          <p:nvPr/>
        </p:nvSpPr>
        <p:spPr>
          <a:xfrm>
            <a:off x="365760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/ 10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20256"/>
            <a:ext cx="9144000" cy="23774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8229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8. 결격사유 검증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4937760" y="201168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 전형 4단계 / 4단계 ]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0424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검증 대상 및 내용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389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1389888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대상자 : 최종합격 예정자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17007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1700784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검증내용 : 임용 결격사유 해당 여부 확인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21579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채용신체검사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523744"/>
          <a:ext cx="77724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6400800"/>
              </a:tblGrid>
              <a:tr h="310896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 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시행근거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사무직원 인사 규정 (신규임용자 구비서류)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검사항목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공무원 채용신체검사 규정 적용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Text 10"/>
          <p:cNvSpPr txBox="1"/>
          <p:nvPr/>
        </p:nvSpPr>
        <p:spPr>
          <a:xfrm>
            <a:off x="457200" y="37124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결격사유조회 및 범죄경력조회</a:t>
            </a:r>
            <a:endParaRPr lang="en-US" sz="14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4078224"/>
          <a:ext cx="77724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108960"/>
                <a:gridCol w="2286000"/>
              </a:tblGrid>
              <a:tr h="310896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근거 법령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조회 방법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결격사유 조회 및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범죄경력 조회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「교육공무원법」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「사립학교법」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행정정보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공동이용시스템 이용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F6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성범죄결격 및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아동학대 범죄전력 조회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「아동·청소년 성보호에 관한 법률」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</a:tbl>
          </a:graphicData>
        </a:graphic>
      </p:graphicFrame>
      <p:sp>
        <p:nvSpPr>
          <p:cNvPr id="15" name="Text 11"/>
          <p:cNvSpPr txBox="1"/>
          <p:nvPr/>
        </p:nvSpPr>
        <p:spPr>
          <a:xfrm>
            <a:off x="457200" y="554126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050" dirty="0">
                <a:solidFill>
                  <a:srgbClr val="4040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검증 3종 : 채용신체검사 · 결격사유 조회 · 성범죄 및 아동학대 범죄전력 조회</a:t>
            </a:r>
            <a:endParaRPr lang="en-US" sz="1050" dirty="0"/>
          </a:p>
        </p:txBody>
      </p:sp>
      <p:sp>
        <p:nvSpPr>
          <p:cNvPr id="17" name="Text 12"/>
          <p:cNvSpPr txBox="1"/>
          <p:nvPr/>
        </p:nvSpPr>
        <p:spPr>
          <a:xfrm>
            <a:off x="365760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/ 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20256"/>
            <a:ext cx="9144000" cy="23774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8229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9. 기타 사항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424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최종합격 예정자 선정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13898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1389888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1·2차 전형결과를 합산하여 최고득점자 순으로 2배수 내외의 최종합격 예정자를 선정함.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197510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1975104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최종합격 예정자에 대하여 법인에 임용 제청을 요청함.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25237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예비합격자 운영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287121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2871216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최종합격자가 임용을 포기하거나 결격사유 발생 등으로 임용이 불가능한 경우에는 차순위자를 임용할 수 있음.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657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가점 적용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" y="40050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914400" y="4005072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「국가유공자 등 예우 및 지원에 관한 법률」, 「독립유공자 예우에 관한 법률」에 의한 취업지원(보호)대상자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79145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050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채용예정인원이 3명 이하인 경우에는 보훈 가점을 적용하지 않음.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365760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/ 10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20256"/>
            <a:ext cx="9144000" cy="237744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4FADD1"/>
          </a:solidFill>
          <a:ln w="6350">
            <a:solidFill>
              <a:srgbClr val="4FADD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8229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10. 채용 계획 요약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4241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요약</a:t>
            </a:r>
            <a:endParaRPr lang="en-US" sz="1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08176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6583680"/>
              </a:tblGrid>
              <a:tr h="310896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 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채용 인원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기술·관리운영직(9급) 1명 (공개채용)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채용 사유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일반직 정원 8명 대비 현원 5명, 결원 3명 발생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충원 방안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결원 3명 = 공개채용 1명 + 기간제 운영 2명(증치 정원)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전형 방법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1차 서류전형(30점, 5배수) → 2차 업무적성 및 심층면접(70점, 2배수)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전형 배점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1·2차 합산 총 100점, 최고득점자 순 2배수 내외 최종합격 예정자 선정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결격사유 검증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채용신체검사 · 결격사유 조회 · 성범죄 및 아동학대 범죄전력 조회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임용 예정일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2027. 1. 1. (법인 임용 제청)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HY동녘B" pitchFamily="34" charset="0"/>
                <a:ea typeface="HY동녘B" pitchFamily="34" charset="-122"/>
                <a:cs typeface="HY동녘B" pitchFamily="34" charset="-120"/>
              </a:rPr>
              <a:t>■ 추진 일정</a:t>
            </a:r>
            <a:endParaRPr lang="en-US" sz="1400" dirty="0"/>
          </a:p>
        </p:txBody>
      </p:sp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846320"/>
          <a:ext cx="8229600" cy="914400"/>
        </p:xfrm>
        <a:graphic>
          <a:graphicData uri="http://schemas.openxmlformats.org/drawingml/2006/table">
            <a:tbl>
              <a:tblPr/>
              <a:tblGrid>
                <a:gridCol w="2057400"/>
                <a:gridCol w="2057400"/>
                <a:gridCol w="2057400"/>
                <a:gridCol w="2057400"/>
              </a:tblGrid>
              <a:tr h="310896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2026. 9월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2026. 11월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2026. 12월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2027. 1. 1.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교육청 사전협의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및 계획(안) 보고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채용공고 및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지원서 접수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1·2차 전형 및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latinLnBrk="0"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결격사유 검증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임용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5"/>
          <p:cNvSpPr txBox="1"/>
          <p:nvPr/>
        </p:nvSpPr>
        <p:spPr>
          <a:xfrm>
            <a:off x="3657600" y="62910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/ 10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2027년 사무직원 채용 계획(안)</dc:title>
  <dc:subject>PptxGenJS Presentation</dc:subject>
  <dc:creator>정석항공과학고등학교</dc:creator>
  <cp:lastModifiedBy>정석항공과학고등학교</cp:lastModifiedBy>
  <cp:revision>1</cp:revision>
  <dcterms:created xsi:type="dcterms:W3CDTF">2026-09-01T04:11:53Z</dcterms:created>
  <dcterms:modified xsi:type="dcterms:W3CDTF">2026-09-01T04:11:53Z</dcterms:modified>
</cp:coreProperties>
</file>