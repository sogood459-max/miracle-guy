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배점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CADCFC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2차 면접전형</c:v>
                </c:pt>
                <c:pt idx="1">
                  <c:v>1차 서류전형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70</c:v>
                </c:pt>
                <c:pt idx="1">
                  <c:v>30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2027년 사무직원 채용 계획(안) 개요. 기술·관리운영직 9급 1명을 공개채용하며, 2026년 9월 교육청 사전협의부터 2027년 1월 1일 임용까지 진행합니다.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정원 8명 대비 현원 5명, 결원 3명. 그중 1명은 공개채용, 증치 정원 2명은 기간제로 운영합니다.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정원 8명(행정직 4, 기술·관리운영직 2, 증치 2), 현원 5명. 증치 사유는 15학급당 1명, 1,000Kw 이상 1명입니다.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전체 채용 일정은 5단계로 진행되며, 2027년 1월 1일 임용으로 마무리됩니다.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전형은 지원서 접수 → 서류심사(5배수) → 업무적성 및 심층면접(2배수) → 결격사유 검증 → 최종합격자 결정 순으로 진행됩니다.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지원 자격은 지방공무원법 제31조 결격사유 비해당, 만 18세 이상 정년 미해당자입니다. 자기소개서는 4개 문항, 800자 이내로 작성합니다.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1차 서류전형은 총 30점 만점, 5배수 내외를 선발합니다. 자기소개서 불성실 작성자는 탈락 기준에 따라 배제됩니다.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2차 면접은 70점 만점이며 2배수 내외를 선발합니다. 1·2차 합산 100점 기준으로 최종 순위를 결정합니다.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최종합격 예정자를 대상으로 채용신체검사, 결격사유·범죄경력 조회, 성범죄 및 아동학대 범죄전력 조회를 실시합니다.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최종합격 예정자는 2배수 내외로 선정하여 법인에 임용 제청합니다. 채용예정인원이 3명 이하이므로 보훈 가점은 적용하지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채용 계획 요약: 1명 공개채용, 결원 3명, 배점 100점, 2027년 1월 1일 임용.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엠블럼">    </p:cNvPr>
          <p:cNvPicPr>
            <a:picLocks noChangeAspect="1"/>
          </p:cNvPicPr>
          <p:nvPr/>
        </p:nvPicPr>
        <p:blipFill>
          <a:blip r:embed="rId1">
            <a:alphaModFix amt="16000"/>
          </a:blip>
          <a:stretch>
            <a:fillRect/>
          </a:stretch>
        </p:blipFill>
        <p:spPr>
          <a:xfrm>
            <a:off x="5989320" y="2103120"/>
            <a:ext cx="2651760" cy="2651760"/>
          </a:xfrm>
          <a:prstGeom prst="rect">
            <a:avLst/>
          </a:prstGeom>
        </p:spPr>
      </p:pic>
      <p:pic>
        <p:nvPicPr>
          <p:cNvPr id="3" name="Image 1" descr="정석항공과학고등학교 교표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11480"/>
            <a:ext cx="960120" cy="41148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77240" y="17556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300" b="1" spc="160" kern="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정석항공과학고등학교 (24학급)</a:t>
            </a:r>
            <a:endParaRPr lang="en-US" sz="1300" dirty="0"/>
          </a:p>
        </p:txBody>
      </p:sp>
      <p:sp>
        <p:nvSpPr>
          <p:cNvPr id="5" name="Text 1"/>
          <p:cNvSpPr txBox="1"/>
          <p:nvPr/>
        </p:nvSpPr>
        <p:spPr>
          <a:xfrm>
            <a:off x="777240" y="2157984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46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2027년 사무직원</a:t>
            </a:r>
            <a:endParaRPr lang="en-US" sz="3800" dirty="0"/>
          </a:p>
          <a:p>
            <a:pPr eaLnBrk="0" latinLnBrk="0" indent="0" marL="0">
              <a:lnSpc>
                <a:spcPts val="46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계획(안)</a:t>
            </a:r>
            <a:endParaRPr lang="en-US" sz="3800" dirty="0"/>
          </a:p>
        </p:txBody>
      </p:sp>
      <p:sp>
        <p:nvSpPr>
          <p:cNvPr id="6" name="Shape 2"/>
          <p:cNvSpPr/>
          <p:nvPr/>
        </p:nvSpPr>
        <p:spPr>
          <a:xfrm>
            <a:off x="777240" y="4023360"/>
            <a:ext cx="4160520" cy="475488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777240" y="4023360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기술·관리운영직(9급) 1명 공개채용</a:t>
            </a:r>
            <a:endParaRPr lang="en-US" sz="135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4937760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사전협의·계획 보고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5175504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2560320" y="4937760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 접수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2560320" y="5175504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343400" y="4937760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4343400" y="5175504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59436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i="1" dirty="0">
                <a:solidFill>
                  <a:srgbClr val="8E9A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인건비 교육청 지원 · 학교법인 임용 제청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365760"/>
            <a:ext cx="731520" cy="31363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657600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- 1 -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b="1" spc="14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OVERVIEW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530352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인원 및 채용 사유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123444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457200" y="1719072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322576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정원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828800" y="1600200"/>
            <a:ext cx="123444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1828800" y="1719072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1828800" y="2322576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현원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200400" y="1600200"/>
            <a:ext cx="123444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3200400" y="1719072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320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-3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3200400" y="2322576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 발생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2999232"/>
            <a:ext cx="3977640" cy="1133856"/>
          </a:xfrm>
          <a:prstGeom prst="roundRect">
            <a:avLst>
              <a:gd name="adj" fmla="val 4839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13232" y="314553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</a:t>
            </a:r>
            <a:endParaRPr lang="en-US" sz="2800" dirty="0"/>
          </a:p>
        </p:txBody>
      </p:sp>
      <p:sp>
        <p:nvSpPr>
          <p:cNvPr id="17" name="Text 14"/>
          <p:cNvSpPr txBox="1"/>
          <p:nvPr/>
        </p:nvSpPr>
        <p:spPr>
          <a:xfrm>
            <a:off x="713232" y="3621024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공개채용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2148840" y="32004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 9급</a:t>
            </a:r>
            <a:endParaRPr lang="en-US" sz="1150" dirty="0"/>
          </a:p>
          <a:p>
            <a:pPr eaLnBrk="0" latinLnBrk="0"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 임용 예정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57200" y="4279392"/>
            <a:ext cx="3977640" cy="868680"/>
          </a:xfrm>
          <a:prstGeom prst="roundRect">
            <a:avLst>
              <a:gd name="adj" fmla="val 6316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13232" y="4279392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2명</a:t>
            </a:r>
            <a:endParaRPr lang="en-US" sz="2100" dirty="0"/>
          </a:p>
        </p:txBody>
      </p:sp>
      <p:sp>
        <p:nvSpPr>
          <p:cNvPr id="21" name="Text 18"/>
          <p:cNvSpPr txBox="1"/>
          <p:nvPr/>
        </p:nvSpPr>
        <p:spPr>
          <a:xfrm>
            <a:off x="1508760" y="4279392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증치 정원 — 기간제 인력으로 운영 예정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4709160" y="1600200"/>
            <a:ext cx="3977640" cy="3547872"/>
          </a:xfrm>
          <a:prstGeom prst="roundRect">
            <a:avLst>
              <a:gd name="adj" fmla="val 1546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5001768" y="18288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사유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5001768" y="277063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001768" y="27706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5422392" y="2286000"/>
            <a:ext cx="297180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정원 8명 대비 현원 5명으로 결원 3명이 발생하여, 안정적인 학교 행정업무 수행을 위한 인력 충원이 필요함.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001768" y="418795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001768" y="4187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422392" y="3703320"/>
            <a:ext cx="297180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 3명 중 1명은 공개채용을 통해 충원하고, 증치 정원 2명은 기간제 인력으로 운영하고자 함.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457200" y="53218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인건비는 교육청에서 지원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365760"/>
            <a:ext cx="731520" cy="31363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657600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- 2 -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b="1" spc="14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STAFFING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530352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직원 현황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0972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5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인건비 교육청 지원</a:t>
            </a:r>
            <a:endParaRPr lang="en-US" sz="11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44752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48640"/>
                <a:gridCol w="492770"/>
                <a:gridCol w="492770"/>
                <a:gridCol w="492770"/>
                <a:gridCol w="492770"/>
                <a:gridCol w="914400"/>
                <a:gridCol w="492770"/>
                <a:gridCol w="492770"/>
                <a:gridCol w="492770"/>
                <a:gridCol w="492770"/>
                <a:gridCol w="492770"/>
                <a:gridCol w="1417320"/>
              </a:tblGrid>
              <a:tr h="329184">
                <a:tc rowSpan="3" grid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 hMerge="1">
                  <a:tcPr/>
                </a:tc>
                <a:tc gridSpan="5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일반직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(기술직)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채용(안)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비고 (증치사유)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 gridSpan="2" vMerge="1">
                  <a:tcPr/>
                </a:tc>
                <a:tc vMerge="1" hMerge="1">
                  <a:tcPr/>
                </a:tc>
                <a:tc gridSpan="4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행정직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기술·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관리운영직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329184">
                <a:tc gridSpan="2" vMerge="1">
                  <a:tcPr/>
                </a:tc>
                <a:tc vMerge="1" hMerge="1">
                  <a:tcPr/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566928"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정석고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(24학급)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23A3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C"/>
                    </a:solidFill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C"/>
                    </a:solidFill>
                  </a:tcPr>
                </a:tc>
                <a:tc rowSpan="2"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9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- 15학급당  1명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l" indent="0" marL="0">
                        <a:buNone/>
                      </a:pPr>
                      <a:r>
                        <a:rPr lang="en-US" sz="9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- 1,000Kw 이상 1명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 vMerge="1">
                  <a:tcPr/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457200" y="36758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증치 정원 2명은 기간제 인력으로 운영 예정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457200" y="4160520"/>
            <a:ext cx="1051560" cy="13258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457200" y="437997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정원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709160"/>
            <a:ext cx="1051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8명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1508760" y="4160520"/>
            <a:ext cx="274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700" b="1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1783080" y="4160520"/>
            <a:ext cx="1051560" cy="13258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1783080" y="437997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현원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1783080" y="4709160"/>
            <a:ext cx="1051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5명</a:t>
            </a:r>
            <a:endParaRPr lang="en-US" sz="2100" dirty="0"/>
          </a:p>
        </p:txBody>
      </p:sp>
      <p:sp>
        <p:nvSpPr>
          <p:cNvPr id="16" name="Text 12"/>
          <p:cNvSpPr txBox="1"/>
          <p:nvPr/>
        </p:nvSpPr>
        <p:spPr>
          <a:xfrm>
            <a:off x="2834640" y="4160520"/>
            <a:ext cx="274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700" b="1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3108960" y="4160520"/>
            <a:ext cx="1051560" cy="1325880"/>
          </a:xfrm>
          <a:prstGeom prst="roundRect">
            <a:avLst>
              <a:gd name="adj" fmla="val 5217"/>
            </a:avLst>
          </a:prstGeom>
          <a:solidFill>
            <a:srgbClr val="FBEDE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3108960" y="437997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3108960" y="4709160"/>
            <a:ext cx="1051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210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</a:t>
            </a:r>
            <a:endParaRPr lang="en-US" sz="2100" dirty="0"/>
          </a:p>
        </p:txBody>
      </p:sp>
      <p:sp>
        <p:nvSpPr>
          <p:cNvPr id="20" name="Shape 16"/>
          <p:cNvSpPr/>
          <p:nvPr/>
        </p:nvSpPr>
        <p:spPr>
          <a:xfrm rot="5400000">
            <a:off x="4242816" y="4732020"/>
            <a:ext cx="182880" cy="182880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1" name="Shape 17"/>
          <p:cNvSpPr/>
          <p:nvPr/>
        </p:nvSpPr>
        <p:spPr>
          <a:xfrm>
            <a:off x="4544568" y="4160520"/>
            <a:ext cx="414223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4764024" y="4288536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 3명 충원 방안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4764024" y="4636008"/>
            <a:ext cx="1787652" cy="658368"/>
          </a:xfrm>
          <a:prstGeom prst="roundRect">
            <a:avLst>
              <a:gd name="adj" fmla="val 8333"/>
            </a:avLst>
          </a:prstGeom>
          <a:solidFill>
            <a:srgbClr val="1E2761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4910328" y="4636008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</a:t>
            </a:r>
            <a:endParaRPr lang="en-US" sz="1700" dirty="0"/>
          </a:p>
        </p:txBody>
      </p:sp>
      <p:sp>
        <p:nvSpPr>
          <p:cNvPr id="25" name="Text 21"/>
          <p:cNvSpPr txBox="1"/>
          <p:nvPr/>
        </p:nvSpPr>
        <p:spPr>
          <a:xfrm>
            <a:off x="5586984" y="4636008"/>
            <a:ext cx="8366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공개채용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6679692" y="4636008"/>
            <a:ext cx="1787652" cy="658368"/>
          </a:xfrm>
          <a:prstGeom prst="roundRect">
            <a:avLst>
              <a:gd name="adj" fmla="val 8333"/>
            </a:avLst>
          </a:prstGeom>
          <a:solidFill>
            <a:srgbClr val="E8EFFC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6825996" y="4636008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2명</a:t>
            </a:r>
            <a:endParaRPr lang="en-US" sz="1700" dirty="0"/>
          </a:p>
        </p:txBody>
      </p:sp>
      <p:sp>
        <p:nvSpPr>
          <p:cNvPr id="28" name="Text 24"/>
          <p:cNvSpPr txBox="1"/>
          <p:nvPr/>
        </p:nvSpPr>
        <p:spPr>
          <a:xfrm>
            <a:off x="7502652" y="4636008"/>
            <a:ext cx="8366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기간제 운영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365760"/>
            <a:ext cx="731520" cy="31363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657600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- 3 -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b="1" spc="14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SCHEDULE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530352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1874520"/>
            <a:ext cx="1389888" cy="260604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60120" y="2112264"/>
            <a:ext cx="384048" cy="384048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60120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2624328"/>
            <a:ext cx="129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 및</a:t>
            </a:r>
            <a:endParaRPr lang="en-US" sz="110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계획(안) 보고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12064" y="372160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 rot="5400000">
            <a:off x="1920240" y="3086100"/>
            <a:ext cx="182880" cy="182880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12" name="Shape 9"/>
          <p:cNvSpPr/>
          <p:nvPr/>
        </p:nvSpPr>
        <p:spPr>
          <a:xfrm>
            <a:off x="2167128" y="1874520"/>
            <a:ext cx="1389888" cy="260604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670048" y="2112264"/>
            <a:ext cx="384048" cy="384048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670048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2212848" y="2624328"/>
            <a:ext cx="129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</a:t>
            </a:r>
            <a:endParaRPr lang="en-US" sz="110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221992" y="372160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 rot="5400000">
            <a:off x="3630168" y="3086100"/>
            <a:ext cx="182880" cy="182880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18" name="Shape 15"/>
          <p:cNvSpPr/>
          <p:nvPr/>
        </p:nvSpPr>
        <p:spPr>
          <a:xfrm>
            <a:off x="3877056" y="1874520"/>
            <a:ext cx="1389888" cy="260604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379976" y="2112264"/>
            <a:ext cx="384048" cy="384048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379976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3922776" y="2624328"/>
            <a:ext cx="129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</a:t>
            </a:r>
            <a:endParaRPr lang="en-US" sz="110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(서류전형, 업무적성</a:t>
            </a:r>
            <a:endParaRPr lang="en-US" sz="110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및 심층면접)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3931920" y="372160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 초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 rot="5400000">
            <a:off x="5340096" y="3086100"/>
            <a:ext cx="182880" cy="182880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4" name="Shape 21"/>
          <p:cNvSpPr/>
          <p:nvPr/>
        </p:nvSpPr>
        <p:spPr>
          <a:xfrm>
            <a:off x="5586984" y="1874520"/>
            <a:ext cx="1389888" cy="260604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6089904" y="2112264"/>
            <a:ext cx="384048" cy="384048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089904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5632704" y="2624328"/>
            <a:ext cx="129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합격자 통보 및</a:t>
            </a:r>
            <a:endParaRPr lang="en-US" sz="110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검증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5641848" y="372160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 rot="5400000">
            <a:off x="7050024" y="3086100"/>
            <a:ext cx="182880" cy="182880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30" name="Shape 27"/>
          <p:cNvSpPr/>
          <p:nvPr/>
        </p:nvSpPr>
        <p:spPr>
          <a:xfrm>
            <a:off x="7296912" y="1874520"/>
            <a:ext cx="1389888" cy="2606040"/>
          </a:xfrm>
          <a:prstGeom prst="roundRect">
            <a:avLst>
              <a:gd name="adj" fmla="val 3947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7799832" y="2112264"/>
            <a:ext cx="384048" cy="384048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7799832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7342632" y="2624328"/>
            <a:ext cx="129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7351776" y="372160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457200" y="4864608"/>
            <a:ext cx="8229600" cy="868680"/>
          </a:xfrm>
          <a:prstGeom prst="roundRect">
            <a:avLst>
              <a:gd name="adj" fmla="val 6316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731520" y="4864608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사전협의(9월) → 공고·접수(11월) → 전형(12월 초) → 검증·통보(12월) → 임용(2027. 1. 1.)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365760"/>
            <a:ext cx="731520" cy="31363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657600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- 4 -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b="1" spc="14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PROCESS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530352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절차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1783080"/>
            <a:ext cx="1389888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60120" y="2002536"/>
            <a:ext cx="384048" cy="384048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60120" y="2002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30352" y="2514600"/>
            <a:ext cx="12435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 rot="5400000">
            <a:off x="1920240" y="3131820"/>
            <a:ext cx="182880" cy="182880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11" name="Shape 8"/>
          <p:cNvSpPr/>
          <p:nvPr/>
        </p:nvSpPr>
        <p:spPr>
          <a:xfrm>
            <a:off x="2167128" y="1783080"/>
            <a:ext cx="1389888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670048" y="2002536"/>
            <a:ext cx="384048" cy="384048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670048" y="2002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2240280" y="2514600"/>
            <a:ext cx="12435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심사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2221992" y="352044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5배수 내외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 rot="5400000">
            <a:off x="3630168" y="3131820"/>
            <a:ext cx="182880" cy="182880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17" name="Shape 14"/>
          <p:cNvSpPr/>
          <p:nvPr/>
        </p:nvSpPr>
        <p:spPr>
          <a:xfrm>
            <a:off x="3877056" y="1783080"/>
            <a:ext cx="1389888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379976" y="2002536"/>
            <a:ext cx="384048" cy="384048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4379976" y="2002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3950208" y="2514600"/>
            <a:ext cx="12435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업무적성 및</a:t>
            </a:r>
            <a:endParaRPr lang="en-US" sz="1250" dirty="0"/>
          </a:p>
          <a:p>
            <a:pPr eaLnBrk="0" latinLnBrk="0"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심층 면접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3931920" y="352044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2배수 내외</a:t>
            </a:r>
            <a:endParaRPr lang="en-US" sz="1100" dirty="0"/>
          </a:p>
          <a:p>
            <a:pPr eaLnBrk="0" latinLnBrk="0" algn="ctr"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(법인승인요청)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 rot="5400000">
            <a:off x="5340096" y="3131820"/>
            <a:ext cx="182880" cy="182880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3" name="Shape 20"/>
          <p:cNvSpPr/>
          <p:nvPr/>
        </p:nvSpPr>
        <p:spPr>
          <a:xfrm>
            <a:off x="5586984" y="1783080"/>
            <a:ext cx="1389888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089904" y="2002536"/>
            <a:ext cx="384048" cy="384048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089904" y="2002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5660136" y="2514600"/>
            <a:ext cx="12435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</a:t>
            </a:r>
            <a:endParaRPr lang="en-US" sz="1250" dirty="0"/>
          </a:p>
          <a:p>
            <a:pPr eaLnBrk="0" latinLnBrk="0"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</a:t>
            </a:r>
            <a:endParaRPr lang="en-US" sz="1250" dirty="0"/>
          </a:p>
        </p:txBody>
      </p:sp>
      <p:sp>
        <p:nvSpPr>
          <p:cNvPr id="27" name="Text 24"/>
          <p:cNvSpPr txBox="1"/>
          <p:nvPr/>
        </p:nvSpPr>
        <p:spPr>
          <a:xfrm>
            <a:off x="5769864" y="3383280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1000" dirty="0"/>
          </a:p>
          <a:p>
            <a:pPr eaLnBrk="0" latinLnBrk="0"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조회</a:t>
            </a:r>
            <a:endParaRPr lang="en-US" sz="1000" dirty="0"/>
          </a:p>
          <a:p>
            <a:pPr eaLnBrk="0" latinLnBrk="0"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성범죄 조회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 rot="5400000">
            <a:off x="7050024" y="3131820"/>
            <a:ext cx="182880" cy="182880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9" name="Shape 26"/>
          <p:cNvSpPr/>
          <p:nvPr/>
        </p:nvSpPr>
        <p:spPr>
          <a:xfrm>
            <a:off x="7296912" y="1783080"/>
            <a:ext cx="1389888" cy="2880360"/>
          </a:xfrm>
          <a:prstGeom prst="roundRect">
            <a:avLst>
              <a:gd name="adj" fmla="val 3947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7799832" y="2002536"/>
            <a:ext cx="384048" cy="384048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7799832" y="2002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7370064" y="2514600"/>
            <a:ext cx="12435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최종합격자</a:t>
            </a:r>
            <a:endParaRPr lang="en-US" sz="1250" dirty="0"/>
          </a:p>
          <a:p>
            <a:pPr eaLnBrk="0" latinLnBrk="0"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</a:t>
            </a:r>
            <a:endParaRPr lang="en-US" sz="1250" dirty="0"/>
          </a:p>
        </p:txBody>
      </p:sp>
      <p:sp>
        <p:nvSpPr>
          <p:cNvPr id="33" name="Text 30"/>
          <p:cNvSpPr txBox="1"/>
          <p:nvPr/>
        </p:nvSpPr>
        <p:spPr>
          <a:xfrm>
            <a:off x="7351776" y="352044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100" dirty="0"/>
          </a:p>
          <a:p>
            <a:pPr eaLnBrk="0" latinLnBrk="0" algn="ctr"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956048"/>
            <a:ext cx="3977640" cy="822960"/>
          </a:xfrm>
          <a:prstGeom prst="roundRect">
            <a:avLst>
              <a:gd name="adj" fmla="val 6667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35" name="Text 32"/>
          <p:cNvSpPr txBox="1"/>
          <p:nvPr/>
        </p:nvSpPr>
        <p:spPr>
          <a:xfrm>
            <a:off x="694944" y="504748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서류전형 30점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694944" y="534009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지원자격 요건 및 자기소개서 작성 성실도 평가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4709160" y="4956048"/>
            <a:ext cx="3977640" cy="822960"/>
          </a:xfrm>
          <a:prstGeom prst="roundRect">
            <a:avLst>
              <a:gd name="adj" fmla="val 6667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38" name="Text 35"/>
          <p:cNvSpPr txBox="1"/>
          <p:nvPr/>
        </p:nvSpPr>
        <p:spPr>
          <a:xfrm>
            <a:off x="4946904" y="504748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 면접전형 70점</a:t>
            </a:r>
            <a:endParaRPr lang="en-US" sz="1250" dirty="0"/>
          </a:p>
        </p:txBody>
      </p:sp>
      <p:sp>
        <p:nvSpPr>
          <p:cNvPr id="39" name="Text 36"/>
          <p:cNvSpPr txBox="1"/>
          <p:nvPr/>
        </p:nvSpPr>
        <p:spPr>
          <a:xfrm>
            <a:off x="4946904" y="534009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응시원서·자기소개서를 기초로 업무 적합성 종합평가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365760"/>
            <a:ext cx="731520" cy="31363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657600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- 5 -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b="1" spc="14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절차   1단계 / 4단계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530352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5720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접수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146304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46304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서류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46888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46888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면접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47472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47472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검증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1691640"/>
            <a:ext cx="38404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731520" y="188366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 자격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749808" y="2377440"/>
            <a:ext cx="82296" cy="822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950976" y="2286000"/>
            <a:ext cx="30540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「지방공무원법」 제31조에 결격사유에 해당하지 않는 자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49808" y="3163824"/>
            <a:ext cx="82296" cy="822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950976" y="3072384"/>
            <a:ext cx="30540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공고일 현재 취업가능 법정 연령(만 18세) 이상인 자로서 「지방공무원법」 제66조(정년)에 해당되지 않는 자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57200" y="4224528"/>
            <a:ext cx="3840480" cy="96012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731520" y="43708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 입력 항목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731520" y="468172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  ·  자기소개서(800자 이내)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4572000" y="1691640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자기소개서 문항 (800자 이내)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4572000" y="2121408"/>
            <a:ext cx="411480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754880" y="2313432"/>
            <a:ext cx="365760" cy="365760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754880" y="23134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5230368" y="2157984"/>
            <a:ext cx="32552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성장배경, 본인 성격의 장·단점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4572000" y="2980944"/>
            <a:ext cx="411480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4754880" y="3172968"/>
            <a:ext cx="365760" cy="365760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4754880" y="3172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230368" y="3017520"/>
            <a:ext cx="32552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지원동기 (본교에 지원하게 된 이유와 응시 직종에 본인이 적합하다고 판단되는 이유)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572000" y="3840480"/>
            <a:ext cx="411480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4754880" y="4032504"/>
            <a:ext cx="365760" cy="365760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4754880" y="40325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5230368" y="3877056"/>
            <a:ext cx="32552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입사 후 포부 및 직무 수행 계획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4572000" y="4700016"/>
            <a:ext cx="411480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4754880" y="4892040"/>
            <a:ext cx="365760" cy="365760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4754880" y="4892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5230368" y="4736592"/>
            <a:ext cx="32552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조직 내 갈등 상황과 이를 해결하기 위한 노력 및 극복했던 경험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365760"/>
            <a:ext cx="731520" cy="31363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657600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- 6 -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b="1" spc="14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절차   2단계 / 4단계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530352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전형 (1차)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5720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접수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146304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46304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서류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46888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46888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면접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47472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47472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검증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170078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평가방법  </a:t>
            </a:r>
            <a:pPr eaLnBrk="0" latinLnBrk="0" indent="0" marL="0">
              <a:buNone/>
            </a:pPr>
            <a:r>
              <a:rPr lang="en-US" sz="11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지원자격 요건 및 자기소개서 작성 성실도 등을 평가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197510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심사위원  </a:t>
            </a:r>
            <a:pPr eaLnBrk="0" latinLnBrk="0" indent="0" marL="0">
              <a:buNone/>
            </a:pPr>
            <a:r>
              <a:rPr lang="en-US" sz="11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 (교장 1명, 행정실장 1명, 외부위원 1명)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40864"/>
          <a:ext cx="4572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143000"/>
                <a:gridCol w="1143000"/>
              </a:tblGrid>
              <a:tr h="329184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평가항목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 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직무전문성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5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5배수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내외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지원동기 및 직업관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성장과정 및 활동경험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표현력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17" name="Shape 13"/>
          <p:cNvSpPr/>
          <p:nvPr/>
        </p:nvSpPr>
        <p:spPr>
          <a:xfrm>
            <a:off x="5303520" y="1700784"/>
            <a:ext cx="3383280" cy="3017520"/>
          </a:xfrm>
          <a:prstGeom prst="roundRect">
            <a:avLst>
              <a:gd name="adj" fmla="val 1818"/>
            </a:avLst>
          </a:prstGeom>
          <a:solidFill>
            <a:srgbClr val="FBEDE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5541264" y="1920240"/>
            <a:ext cx="29077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2200"/>
              </a:lnSpc>
              <a:buNone/>
            </a:pPr>
            <a:r>
              <a:rPr lang="en-US" sz="145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자기소개서 불성실 작성자</a:t>
            </a:r>
            <a:endParaRPr lang="en-US" sz="1450" dirty="0"/>
          </a:p>
          <a:p>
            <a:pPr eaLnBrk="0" latinLnBrk="0" indent="0" marL="0">
              <a:lnSpc>
                <a:spcPts val="2200"/>
              </a:lnSpc>
              <a:buNone/>
            </a:pPr>
            <a:r>
              <a:rPr lang="en-US" sz="145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탈락 기준</a:t>
            </a:r>
            <a:endParaRPr lang="en-US" sz="1450" dirty="0"/>
          </a:p>
        </p:txBody>
      </p:sp>
      <p:sp>
        <p:nvSpPr>
          <p:cNvPr id="19" name="Shape 15"/>
          <p:cNvSpPr/>
          <p:nvPr/>
        </p:nvSpPr>
        <p:spPr>
          <a:xfrm>
            <a:off x="5559552" y="2779776"/>
            <a:ext cx="82296" cy="82296"/>
          </a:xfrm>
          <a:prstGeom prst="ellipse">
            <a:avLst/>
          </a:prstGeom>
          <a:solidFill>
            <a:srgbClr val="B23A34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5760720" y="2688336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문항과 전혀 무관한 내용을 작성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5559552" y="3401568"/>
            <a:ext cx="82296" cy="82296"/>
          </a:xfrm>
          <a:prstGeom prst="ellipse">
            <a:avLst/>
          </a:prstGeom>
          <a:solidFill>
            <a:srgbClr val="B23A34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5760720" y="3310128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 내용 반복 또는 문항별 50% 미만(약 400자) 작성한 경우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5559552" y="4023360"/>
            <a:ext cx="82296" cy="82296"/>
          </a:xfrm>
          <a:prstGeom prst="ellipse">
            <a:avLst/>
          </a:prstGeom>
          <a:solidFill>
            <a:srgbClr val="B23A34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5760720" y="393192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기관명을 오기재하여 제출한 경우 등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457200" y="5029200"/>
            <a:ext cx="8229600" cy="731520"/>
          </a:xfrm>
          <a:prstGeom prst="roundRect">
            <a:avLst>
              <a:gd name="adj" fmla="val 7500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640080" y="50292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서류전형 30점 · 합격배수 5배수 내외 — 심사위원 3명(교장 1, 행정실장 1, 외부위원 1)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365760"/>
            <a:ext cx="731520" cy="31363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657600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- 7 -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b="1" spc="14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절차   3단계 / 4단계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530352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업무적성 및 심층면접 (2차)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5720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접수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146304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46304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서류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46888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46888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면접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47472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47472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검증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170078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평가방법  </a:t>
            </a:r>
            <a:pPr eaLnBrk="0" latinLnBrk="0" indent="0" marL="0">
              <a:buNone/>
            </a:pPr>
            <a:r>
              <a:rPr lang="en-US" sz="11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 및 자기소개서를 기초로 업무 적합성을 종합평가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197510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심사위원  </a:t>
            </a:r>
            <a:pPr eaLnBrk="0" latinLnBrk="0" indent="0" marL="0">
              <a:buNone/>
            </a:pPr>
            <a:r>
              <a:rPr lang="en-US" sz="11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 (교장 1명, 법인관계자 1명, 외부위원 1명)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40864"/>
          <a:ext cx="4572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143000"/>
                <a:gridCol w="1143000"/>
              </a:tblGrid>
              <a:tr h="329184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평가항목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 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직무수행능력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5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2배수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내외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기본소양·태도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조직 이해도 및 적응력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발전가능성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17" name="Shape 13"/>
          <p:cNvSpPr/>
          <p:nvPr/>
        </p:nvSpPr>
        <p:spPr>
          <a:xfrm>
            <a:off x="5303520" y="1700784"/>
            <a:ext cx="3383280" cy="3877056"/>
          </a:xfrm>
          <a:prstGeom prst="roundRect">
            <a:avLst>
              <a:gd name="adj" fmla="val 1622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5541264" y="1901952"/>
            <a:ext cx="2907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전형별 배점 구성</a:t>
            </a:r>
            <a:endParaRPr lang="en-US" sz="145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5760720" y="2231136"/>
          <a:ext cx="2468880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0" name="Shape 15"/>
          <p:cNvSpPr/>
          <p:nvPr/>
        </p:nvSpPr>
        <p:spPr>
          <a:xfrm>
            <a:off x="5669280" y="411480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1E2761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5943600" y="404164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 면접전형</a:t>
            </a:r>
            <a:endParaRPr lang="en-US" sz="1150" dirty="0"/>
          </a:p>
        </p:txBody>
      </p:sp>
      <p:sp>
        <p:nvSpPr>
          <p:cNvPr id="22" name="Text 17"/>
          <p:cNvSpPr txBox="1"/>
          <p:nvPr/>
        </p:nvSpPr>
        <p:spPr>
          <a:xfrm>
            <a:off x="7132320" y="404164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70점</a:t>
            </a:r>
            <a:endParaRPr lang="en-US" sz="1300" dirty="0"/>
          </a:p>
        </p:txBody>
      </p:sp>
      <p:sp>
        <p:nvSpPr>
          <p:cNvPr id="23" name="Shape 18"/>
          <p:cNvSpPr/>
          <p:nvPr/>
        </p:nvSpPr>
        <p:spPr>
          <a:xfrm>
            <a:off x="5669280" y="4462272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CADCFC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5943600" y="438912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서류전형</a:t>
            </a:r>
            <a:endParaRPr lang="en-US" sz="1150" dirty="0"/>
          </a:p>
        </p:txBody>
      </p:sp>
      <p:sp>
        <p:nvSpPr>
          <p:cNvPr id="25" name="Text 20"/>
          <p:cNvSpPr txBox="1"/>
          <p:nvPr/>
        </p:nvSpPr>
        <p:spPr>
          <a:xfrm>
            <a:off x="7132320" y="438912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30점</a:t>
            </a:r>
            <a:endParaRPr lang="en-US" sz="1300" dirty="0"/>
          </a:p>
        </p:txBody>
      </p:sp>
      <p:sp>
        <p:nvSpPr>
          <p:cNvPr id="26" name="Text 21"/>
          <p:cNvSpPr txBox="1"/>
          <p:nvPr/>
        </p:nvSpPr>
        <p:spPr>
          <a:xfrm>
            <a:off x="5541264" y="4828032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전형결과 합산 총 100점</a:t>
            </a:r>
            <a:endParaRPr lang="en-US" sz="1300" dirty="0"/>
          </a:p>
        </p:txBody>
      </p:sp>
      <p:sp>
        <p:nvSpPr>
          <p:cNvPr id="27" name="Text 22"/>
          <p:cNvSpPr txBox="1"/>
          <p:nvPr/>
        </p:nvSpPr>
        <p:spPr>
          <a:xfrm>
            <a:off x="5541264" y="5120640"/>
            <a:ext cx="29077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최고득점자 순으로 2배수 내외</a:t>
            </a:r>
            <a:endParaRPr lang="en-US" sz="1050" dirty="0"/>
          </a:p>
          <a:p>
            <a:pPr eaLnBrk="0" latinLnBrk="0"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 선정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365760"/>
            <a:ext cx="731520" cy="31363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657600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- 8 -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b="1" spc="14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절차   4단계 / 4단계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530352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검증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5720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접수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146304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46304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서류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46888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46888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면접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474720" y="111556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474720" y="1115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검증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16824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 상 자  </a:t>
            </a:r>
            <a:pPr eaLnBrk="0" latinLnBrk="0" indent="0" marL="0">
              <a:buNone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</a:t>
            </a:r>
            <a:pPr eaLnBrk="0" latinLnBrk="0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  검증내용  </a:t>
            </a:r>
            <a:pPr eaLnBrk="0" latinLnBrk="0" indent="0" marL="0">
              <a:buNone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 결격사유 해당 여부 확인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57200" y="2084832"/>
            <a:ext cx="3108960" cy="2103120"/>
          </a:xfrm>
          <a:prstGeom prst="roundRect">
            <a:avLst>
              <a:gd name="adj" fmla="val 2609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13232" y="2304288"/>
            <a:ext cx="2596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713232" y="2798064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시행근거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1554480" y="2798064"/>
            <a:ext cx="17556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사무직원 인사 규정</a:t>
            </a:r>
            <a:endParaRPr lang="en-US" sz="1050" dirty="0"/>
          </a:p>
          <a:p>
            <a:pPr eaLnBrk="0" latinLnBrk="0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(신규임용자 구비서류)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713232" y="345643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검사항목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1554480" y="3456432"/>
            <a:ext cx="17556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공무원 채용신체검사</a:t>
            </a:r>
            <a:endParaRPr lang="en-US" sz="1050" dirty="0"/>
          </a:p>
          <a:p>
            <a:pPr eaLnBrk="0" latinLnBrk="0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적용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3840480" y="208483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결격사유조회 및 범죄경력조회</a:t>
            </a:r>
            <a:endParaRPr lang="en-US" sz="14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0" y="2450592"/>
          <a:ext cx="484632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600200"/>
                <a:gridCol w="1463040"/>
              </a:tblGrid>
              <a:tr h="329184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 법령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조회 방법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결격사유 조회 및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범죄경력 조회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「교육공무원법」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「사립학교법」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행정정보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공동이용시스템 이용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성범죄결격 및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아동학대 범죄전력 조회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「아동·청소년 성보호에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관한 법률」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23" name="Shape 19"/>
          <p:cNvSpPr/>
          <p:nvPr/>
        </p:nvSpPr>
        <p:spPr>
          <a:xfrm>
            <a:off x="457200" y="4681728"/>
            <a:ext cx="8229600" cy="1005840"/>
          </a:xfrm>
          <a:prstGeom prst="roundRect">
            <a:avLst>
              <a:gd name="adj" fmla="val 5455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731520" y="4681728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3종</a:t>
            </a:r>
            <a:endParaRPr lang="en-US" sz="1400" dirty="0"/>
          </a:p>
        </p:txBody>
      </p:sp>
      <p:sp>
        <p:nvSpPr>
          <p:cNvPr id="25" name="Shape 21"/>
          <p:cNvSpPr/>
          <p:nvPr/>
        </p:nvSpPr>
        <p:spPr>
          <a:xfrm>
            <a:off x="1920240" y="4919472"/>
            <a:ext cx="21031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1920240" y="4919472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4206240" y="4919472"/>
            <a:ext cx="21031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4206240" y="4919472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조회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6492240" y="4919472"/>
            <a:ext cx="210312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6492240" y="4919472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성범죄·아동학대 조회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365760"/>
            <a:ext cx="731520" cy="31363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657600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- 9 -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31089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00" b="1" spc="14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 OTHERS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530352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기타 사항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1572768"/>
            <a:ext cx="2560320" cy="306324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31520" y="1810512"/>
            <a:ext cx="384048" cy="384048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31520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30428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 선정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2816352"/>
            <a:ext cx="197510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전형결과를 합산하여 최고득점자 순으로 2배수 내외의 최종합격 예정자를 선정함.</a:t>
            </a:r>
            <a:endParaRPr lang="en-US" sz="1100" dirty="0"/>
          </a:p>
          <a:p>
            <a:pPr eaLnBrk="0" latinLnBrk="0"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예정자에 대하여 법인에 임용 제청을 요청함.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291840" y="1572768"/>
            <a:ext cx="2560320" cy="306324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66160" y="1810512"/>
            <a:ext cx="384048" cy="384048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566160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566160" y="230428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예비합격자 운영</a:t>
            </a:r>
            <a:endParaRPr lang="en-US" sz="1450" dirty="0"/>
          </a:p>
        </p:txBody>
      </p:sp>
      <p:sp>
        <p:nvSpPr>
          <p:cNvPr id="15" name="Text 12"/>
          <p:cNvSpPr txBox="1"/>
          <p:nvPr/>
        </p:nvSpPr>
        <p:spPr>
          <a:xfrm>
            <a:off x="3584448" y="2816352"/>
            <a:ext cx="197510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최종합격자가 임용을 포기하거나 결격사유 발생 등으로 임용이 불가능한 경우에는 차순위자를 임용할 수 있음.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126480" y="1572768"/>
            <a:ext cx="2560320" cy="306324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400800" y="1810512"/>
            <a:ext cx="384048" cy="384048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400800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0" y="230428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가점 적용</a:t>
            </a:r>
            <a:endParaRPr lang="en-US" sz="1450" dirty="0"/>
          </a:p>
        </p:txBody>
      </p:sp>
      <p:sp>
        <p:nvSpPr>
          <p:cNvPr id="20" name="Text 17"/>
          <p:cNvSpPr txBox="1"/>
          <p:nvPr/>
        </p:nvSpPr>
        <p:spPr>
          <a:xfrm>
            <a:off x="6419088" y="2816352"/>
            <a:ext cx="197510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「국가유공자 등 예우 및 지원에 관한 법률」, 「독립유공자 예우에 관한 법률」에 의한 취업지원(보호)대상자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7200" y="4864608"/>
            <a:ext cx="8229600" cy="777240"/>
          </a:xfrm>
          <a:prstGeom prst="roundRect">
            <a:avLst>
              <a:gd name="adj" fmla="val 7059"/>
            </a:avLst>
          </a:prstGeom>
          <a:solidFill>
            <a:srgbClr val="FBEDE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88900" dist="25400" dir="5400000">
              <a:srgbClr val="1E2761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640080" y="4864608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25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채용예정인원이 3명 이하인 경우에는 보훈 가점을 적용하지 않음.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365760"/>
            <a:ext cx="731520" cy="31363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657600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050" dirty="0">
                <a:solidFill>
                  <a:srgbClr val="8E9A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- 10 -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7132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보는 채용 계획</a:t>
            </a:r>
            <a:endParaRPr lang="en-US" sz="27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20700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정석항공과학고등학교 · 기술·관리운영직(9급) 1명 공개채용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1858518" cy="1627632"/>
          </a:xfrm>
          <a:prstGeom prst="roundRect">
            <a:avLst>
              <a:gd name="adj" fmla="val 3933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" y="2148840"/>
            <a:ext cx="14927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인원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423160"/>
            <a:ext cx="14927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971800"/>
            <a:ext cx="14927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 9급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580894" y="1965960"/>
            <a:ext cx="1858518" cy="1627632"/>
          </a:xfrm>
          <a:prstGeom prst="roundRect">
            <a:avLst>
              <a:gd name="adj" fmla="val 3933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763774" y="2148840"/>
            <a:ext cx="14927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2763774" y="2423160"/>
            <a:ext cx="14927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2763774" y="2971800"/>
            <a:ext cx="14927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정원 8 / 현원 5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704588" y="1965960"/>
            <a:ext cx="1858518" cy="1627632"/>
          </a:xfrm>
          <a:prstGeom prst="roundRect">
            <a:avLst>
              <a:gd name="adj" fmla="val 3933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887468" y="2148840"/>
            <a:ext cx="14927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배점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4887468" y="2423160"/>
            <a:ext cx="14927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100점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4887468" y="2971800"/>
            <a:ext cx="14927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30 + 면접 70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828282" y="1965960"/>
            <a:ext cx="1858518" cy="1627632"/>
          </a:xfrm>
          <a:prstGeom prst="roundRect">
            <a:avLst>
              <a:gd name="adj" fmla="val 3933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011162" y="2148840"/>
            <a:ext cx="14927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임용일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011162" y="2423160"/>
            <a:ext cx="149275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7011162" y="2971800"/>
            <a:ext cx="14927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법인 임용 제청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457200" y="40782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3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추진 일정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457200" y="4553712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57200" y="4773168"/>
            <a:ext cx="18585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457200" y="5065776"/>
            <a:ext cx="17670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사전협의·계획 보고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2580894" y="4553712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580894" y="4773168"/>
            <a:ext cx="18585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2580894" y="5065776"/>
            <a:ext cx="17670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 지원서 접수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4704588" y="4553712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4704588" y="4773168"/>
            <a:ext cx="18585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4704588" y="5065776"/>
            <a:ext cx="17670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 및 결격사유 검증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6828282" y="4553712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828282" y="4773168"/>
            <a:ext cx="18585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250" dirty="0"/>
          </a:p>
        </p:txBody>
      </p:sp>
      <p:sp>
        <p:nvSpPr>
          <p:cNvPr id="34" name="Text 31"/>
          <p:cNvSpPr txBox="1"/>
          <p:nvPr/>
        </p:nvSpPr>
        <p:spPr>
          <a:xfrm>
            <a:off x="6828282" y="5065776"/>
            <a:ext cx="17670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2027년 사무직원 채용 계획(안)</dc:title>
  <dc:subject>PptxGenJS Presentation</dc:subject>
  <dc:creator>정석항공과학고등학교</dc:creator>
  <cp:lastModifiedBy>정석항공과학고등학교</cp:lastModifiedBy>
  <cp:revision>1</cp:revision>
  <dcterms:created xsi:type="dcterms:W3CDTF">2026-08-31T04:39:45Z</dcterms:created>
  <dcterms:modified xsi:type="dcterms:W3CDTF">2026-08-31T04:39:45Z</dcterms:modified>
</cp:coreProperties>
</file>