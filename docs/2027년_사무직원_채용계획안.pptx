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2027년 사무직원 채용 계획(안) 개요. 기술·관리운영직 9급 1명을 공개채용하며, 2026년 9월 교육청 사전협의부터 2027년 1월 1일 임용까지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 대비 현원 5명, 결원 3명. 그중 1명은 공개채용, 증치 정원 2명은 기간제로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8명(행정직 4, 기술·관리운영직 2, 증치 2), 현원 5명. 증치 사유는 15학급당 1명, 1,000Kw 이상 1명입니다.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채용 일정은 5단계로 진행되며, 2027년 1월 1일 임용으로 마무리됩니다.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전형은 지원서 접수 → 서류심사(5배수) → 업무적성 및 심층면접(2배수) → 결격사유 검증 → 최종합격자 결정 순으로 진행됩니다.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지원 자격은 지방공무원법 제31조 결격사유 비해당, 만 18세 이상 정년 미해당자입니다. 자기소개서는 4개 문항, 800자 이내로 작성합니다.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 서류전형은 총 30점 만점, 5배수 내외를 선발합니다. 자기소개서 불성실 작성자는 탈락 기준에 따라 배제됩니다.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2차 면접은 70점 만점이며 2배수 내외를 선발합니다. 1·2차 합산 100점 기준으로 최종 순위를 결정합니다.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예정자를 대상으로 채용신체검사, 결격사유·범죄경력 조회, 성범죄 및 아동학대 범죄전력 조회를 실시합니다.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예정자는 2배수 내외로 선정하여 법인에 임용 제청합니다. 채용예정인원이 3명 이하이므로 보훈 가점은 적용하지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채용 계획 요약: 1명 공개채용, 결원 3명, 배점 100점, 2027년 1월 1일 임용.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929384"/>
            <a:ext cx="9144000" cy="192938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2212848"/>
            <a:ext cx="8229600" cy="841248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38100" dir="2700000">
              <a:srgbClr val="000000">
                <a:alpha val="43000"/>
              </a:srgbClr>
            </a:outerShdw>
          </a:effectLst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2027년 사무직원 채용 계획(안)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1272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29768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700" dirty="0">
                <a:solidFill>
                  <a:srgbClr val="263F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2026.  9.</a:t>
            </a:r>
            <a:endParaRPr lang="en-US" sz="1700" dirty="0"/>
          </a:p>
        </p:txBody>
      </p:sp>
      <p:pic>
        <p:nvPicPr>
          <p:cNvPr id="8" name="Image 0" descr="정석항공과학고등학교 엠블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99232" y="5175504"/>
            <a:ext cx="658368" cy="6583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785616" y="5175504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- 1 -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1. 채용 인원 및 채용 사유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 인원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938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 사유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2860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28600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 8명 대비 현원 5명으로 결원 3명이 발생하여, 안정적인 학교 행정업무 수행을 위한 인력 충원이 필요함.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29626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962656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3명 중 1명은 공개채용을 통해 충원하고, 증치 정원 2명은 기간제 인력으로 운영하고자 함.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7124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 개요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78224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468880"/>
                <a:gridCol w="1280160"/>
                <a:gridCol w="1554480"/>
                <a:gridCol w="1645920"/>
              </a:tblGrid>
              <a:tr h="329184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인원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방법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임용 예정일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사무직원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기술·관리운영직(9급)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공개채용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2027. 1. 1.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457200" y="497433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인건비는 교육청에서 지원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- 2 -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2. 직원 현황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일반직 정원 및 현원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760720" y="10607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(인건비 교육청 지원, 단위 : 명)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48640"/>
                <a:gridCol w="492770"/>
                <a:gridCol w="492770"/>
                <a:gridCol w="492770"/>
                <a:gridCol w="492770"/>
                <a:gridCol w="914400"/>
                <a:gridCol w="492770"/>
                <a:gridCol w="492770"/>
                <a:gridCol w="492770"/>
                <a:gridCol w="492770"/>
                <a:gridCol w="492770"/>
                <a:gridCol w="1417320"/>
              </a:tblGrid>
              <a:tr h="292608">
                <a:tc rowSpan="3" grid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 hMerge="1">
                  <a:tcPr/>
                </a:tc>
                <a:tc grid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(기술직)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(안)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비고 (증치사유)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292608">
                <a:tc gridSpan="2" vMerge="1">
                  <a:tcPr/>
                </a:tc>
                <a:tc vMerge="1" hMerge="1">
                  <a:tcPr/>
                </a:tc>
                <a:tc gridSpan="4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관리운영직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292608">
                <a:tc gridSpan="2" vMerge="1">
                  <a:tcPr/>
                </a:tc>
                <a:tc vMerge="1" h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512064"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정석고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(24학급)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△3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- 15학급당  1명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- 1,000Kw 이상 1명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57200" y="33467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증치 정원 2명은 기간제 인력으로 운영 예정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80390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결원 3명 충원 방안</a:t>
            </a:r>
            <a:endParaRPr lang="en-US" sz="14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169664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920240"/>
                <a:gridCol w="1920240"/>
              </a:tblGrid>
              <a:tr h="310896"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 3명 충원 방안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hMerge="1">
                  <a:tcPr/>
                </a:tc>
              </a:tr>
              <a:tr h="310896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공개채용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기간제 운영 (증치 정원)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457200" y="535838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결원 3명 = 공개채용 1명 + 기간제 운영 2명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- 3 -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3. 채용 계획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추진 절차 및 일정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1206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 보고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377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 rot="5400000">
            <a:off x="194310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2" name="Shape 10"/>
          <p:cNvSpPr/>
          <p:nvPr/>
        </p:nvSpPr>
        <p:spPr>
          <a:xfrm>
            <a:off x="214884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0370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14884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18541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 rot="5400000">
            <a:off x="363474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7" name="Shape 15"/>
          <p:cNvSpPr/>
          <p:nvPr/>
        </p:nvSpPr>
        <p:spPr>
          <a:xfrm>
            <a:off x="384048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89534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(서류전형, 업무적성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및 심층면접)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84048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87705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 초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 rot="5400000">
            <a:off x="532638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2" name="Shape 20"/>
          <p:cNvSpPr/>
          <p:nvPr/>
        </p:nvSpPr>
        <p:spPr>
          <a:xfrm>
            <a:off x="553212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8698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합격자 통보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53212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56869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 rot="5400000">
            <a:off x="701802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7" name="Shape 25"/>
          <p:cNvSpPr/>
          <p:nvPr/>
        </p:nvSpPr>
        <p:spPr>
          <a:xfrm>
            <a:off x="722376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27862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22376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26033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1·2차 전형은 2026. 12월 초 실시하며, 최종합격 예정자는 법인 임용 제청을 거쳐 2027. 1. 1. 임용 예정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- 4 -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4. 전형 절차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전형 단계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1206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377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 rot="5400000">
            <a:off x="194310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2" name="Shape 10"/>
          <p:cNvSpPr/>
          <p:nvPr/>
        </p:nvSpPr>
        <p:spPr>
          <a:xfrm>
            <a:off x="214884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0370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심사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14884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18541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5배수 내외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 rot="5400000">
            <a:off x="363474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7" name="Shape 15"/>
          <p:cNvSpPr/>
          <p:nvPr/>
        </p:nvSpPr>
        <p:spPr>
          <a:xfrm>
            <a:off x="384048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89534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심층 면접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84048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87705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2배수 내외</a:t>
            </a:r>
            <a:endParaRPr lang="en-US" sz="1050" dirty="0"/>
          </a:p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(법인승인요청)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 rot="5400000">
            <a:off x="532638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2" name="Shape 20"/>
          <p:cNvSpPr/>
          <p:nvPr/>
        </p:nvSpPr>
        <p:spPr>
          <a:xfrm>
            <a:off x="553212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8698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53212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56869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050" dirty="0"/>
          </a:p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결격사유·성범죄 조회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 rot="5400000">
            <a:off x="701802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7" name="Shape 25"/>
          <p:cNvSpPr/>
          <p:nvPr/>
        </p:nvSpPr>
        <p:spPr>
          <a:xfrm>
            <a:off x="722376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27862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 결정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22376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26033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387705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전형별 배점 및 합격배수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42816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931920"/>
                <a:gridCol w="1280160"/>
                <a:gridCol w="164592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내용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서류전형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지원자격 요건 및 자기소개서 작성 성실도 평가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 내외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 면접전형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응시원서·자기소개서를 기초로 업무 적합성 종합평가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 내외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1·2차 전형결과 합산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- 5 -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5. 지원서 접수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1단계 / 4단계 ]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지원 자격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「지방공무원법」 제31조에 결격사유에 해당하지 않는 자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170078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공고일 현재 취업가능 법정 연령(만 18세) 이상인 자로서 「지방공무원법」 제66조(정년)에 해당되지 않는 자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395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응시원서 입력 항목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" y="27432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2743200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30540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054096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(800자 이내)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419856"/>
          <a:ext cx="77724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04088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자기소개서 문 항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성장배경, 본인 성격의 장·단점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(본교에 지원하게 된 이유와 응시 직종에 본인이 적합하다고 판단되는 이유)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입사 후 포부 및 직무 수행 계획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내 갈등 상황과 이를 해결하기 위한 노력 및 극복했던 경험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- 6 -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6. 서류 전형 (1차)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2단계 / 4단계 ]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평가방법 및 심사위원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: 지원자격 요건 및 자기소개서 작성 성실도 등을 평가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17007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: 3명 (교장 1명, 행정실장 1명, 외부위원 1명)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157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 항목 및 배점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23744"/>
          <a:ext cx="60350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직무전문성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및 직업관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성장과정 및 활동경험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표현력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457200" y="4626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자기소개서 불성실 작성자 탈락 기준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32688" y="497433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133856" y="497433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문항과 전혀 무관한 내용을 작성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932688" y="524865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33856" y="524865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내용 반복 또는 문항별 50% 미만(약 400자) 작성한 경우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932688" y="552297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33856" y="552297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기관명을 오기재하여 제출한 경우 등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- 7 -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7. 업무적성 및 심층면접 (2차)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3단계 / 4단계 ]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평가방법 및 심사위원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: 응시원서 및 자기소개서를 기초로 업무 적합성을 종합평가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17007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: 3명 (교장 1명, 법인관계자 1명, 외부위원 1명)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157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 항목 및 배점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23744"/>
          <a:ext cx="60350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직무수행능력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기본소양·태도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이해도 및 적응력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발전가능성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457200" y="4626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최종합격 예정자 선정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32688" y="497433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133856" y="497433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합산(총 100점)하여 최고득점자 순으로 2배수 내외의 최종합격 예정자를 선정함.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932688" y="524865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33856" y="524865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- 8 -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8. 결격사유 검증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4단계 / 4단계 ]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검증 대상 및 내용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대상자 : 최종합격 예정자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17007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검증내용 : 임용 결격사유 해당 여부 확인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157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채용신체검사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23744"/>
          <a:ext cx="7772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40080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시행근거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사무직원 인사 규정 (신규임용자 구비서류)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검사항목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공무원 채용신체검사 규정 적용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457200" y="37124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결격사유조회 및 범죄경력조회</a:t>
            </a:r>
            <a:endParaRPr lang="en-US" sz="14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4078224"/>
          <a:ext cx="7772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228600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법령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조회 방법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조회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범죄경력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「교육공무원법」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「사립학교법」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행정정보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공동이용시스템 이용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성범죄결격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아동학대 범죄전력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「아동·청소년 성보호에 관한 법률」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6" name="Text 12"/>
          <p:cNvSpPr txBox="1"/>
          <p:nvPr/>
        </p:nvSpPr>
        <p:spPr>
          <a:xfrm>
            <a:off x="457200" y="554126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검증 3종 : 채용신체검사 · 결격사유 조회 · 성범죄 및 아동학대 범죄전력 조회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- 9 -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9. 기타 사항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최종합격 예정자 선정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389888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합산하여 최고득점자 순으로 2배수 내외의 최종합격 예정자를 선정함.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9751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197510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5237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예비합격자 운영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28712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871216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최종합격자가 임용을 포기하거나 결격사유 발생 등으로 임용이 불가능한 경우에는 차순위자를 임용할 수 있음.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가점 적용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00507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「국가유공자 등 예우 및 지원에 관한 법률」, 「독립유공자 예우에 관한 법률」에 의한 취업지원(보호)대상자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79145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채용예정인원이 3명 이하인 경우에는 보훈 가점을 적용하지 않음.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- 10 -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10. 채용 계획 요약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요약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0817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58368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인원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기술·관리운영직(9급) 1명 (공개채용)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사유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 정원 8명 대비 현원 5명, 결원 3명 발생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충원 방안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 3명 = 공개채용 1명 + 기간제 운영 2명(증치 정원)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전형 방법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서류전형(30점, 5배수) → 2차 업무적성 및 심층면접(70점, 2배수)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전형 배점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1·2차 합산 총 100점, 최고득점자 순 2배수 내외 최종합격 예정자 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검증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채용신체검사 · 결격사유 조회 · 성범죄 및 아동학대 범죄전력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임용 예정일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 1. 1. (법인 임용 제청)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추진 일정</a:t>
            </a:r>
            <a:endParaRPr lang="en-US" sz="14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846320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 9월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 11월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 12월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2027. 1. 1.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교육청 사전협의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및 계획(안) 보고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채용공고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지원서 접수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1·2차 전형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검증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2027년 사무직원 채용 계획(안)</dc:title>
  <dc:subject>PptxGenJS Presentation</dc:subject>
  <dc:creator>정석항공과학고등학교</dc:creator>
  <cp:lastModifiedBy>정석항공과학고등학교</cp:lastModifiedBy>
  <cp:revision>1</cp:revision>
  <dcterms:created xsi:type="dcterms:W3CDTF">2026-09-01T03:56:36Z</dcterms:created>
  <dcterms:modified xsi:type="dcterms:W3CDTF">2026-09-01T03:56:36Z</dcterms:modified>
</cp:coreProperties>
</file>