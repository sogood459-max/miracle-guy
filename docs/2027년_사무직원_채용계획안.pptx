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배점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2차 면접전형</c:v>
                </c:pt>
                <c:pt idx="1">
                  <c:v>1차 서류전형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2027년 사무직원 채용 계획(안) 개요. 기술·관리운영직 9급 1명을 공개채용하며, 2026년 9월 교육청 사전협의부터 2027년 1월 1일 임용까지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정원 8명 대비 현원 5명, 결원 3명. 그중 1명은 공개채용, 증치 정원 2명은 기간제로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정원 8명(행정직 4, 기술·관리운영직 2, 증치 2), 현원 5명. 증치 사유는 15학급당 1명, 1,000Kw 이상 1명입니다.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채용 일정은 5단계로 진행되며, 2027년 1월 1일 임용으로 마무리됩니다.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전형은 지원서 접수 → 서류심사(5배수) → 업무적성 및 심층면접(2배수) → 결격사유 검증 → 최종합격자 결정 순으로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지원 자격은 지방공무원법 제31조 결격사유 비해당, 만 18세 이상 정년 미해당자입니다. 자기소개서는 4개 문항, 800자 이내로 작성합니다.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서류전형은 총 30점 만점, 5배수 내외를 선발합니다. 자기소개서 불성실 작성자는 탈락 기준에 따라 배제됩니다.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 면접은 70점 만점이며 2배수 내외를 선발합니다. 1·2차 합산 100점 기준으로 최종 순위를 결정합니다.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최종합격 예정자를 대상으로 채용신체검사, 결격사유·범죄경력 조회, 성범죄 및 아동학대 범죄전력 조회를 실시합니다.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최종합격 예정자는 2배수 내외로 선정하여 법인에 임용 제청합니다. 채용예정인원이 3명 이하이므로 보훈 가점은 적용하지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채용 계획 요약: 1명 공개채용, 결원 3명, 배점 100점, 2027년 1월 1일 임용.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엠블럼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5989320" y="2103120"/>
            <a:ext cx="2651760" cy="2651760"/>
          </a:xfrm>
          <a:prstGeom prst="rect">
            <a:avLst/>
          </a:prstGeom>
        </p:spPr>
      </p:pic>
      <p:pic>
        <p:nvPicPr>
          <p:cNvPr id="3" name="Image 1" descr="정석항공과학고등학교 교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960120" cy="411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300" b="1" spc="16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정석항공과학고등학교 (24학급)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157984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사무직원</a:t>
            </a:r>
            <a:endParaRPr lang="en-US" sz="3800" dirty="0"/>
          </a:p>
          <a:p>
            <a:pPr eaLnBrk="0" latinLnBrk="0"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계획(안)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777240" y="4023360"/>
            <a:ext cx="4160520" cy="47548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77240" y="40233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기술·관리운영직(9급) 1명 공개채용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사전협의·계획 보고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175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 접수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2560320" y="5175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4937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51755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5943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i="1" dirty="0">
                <a:solidFill>
                  <a:srgbClr val="8E9A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교육청 지원 · 학교법인 임용 제청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인원 및 채용 사유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57200" y="17190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225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정원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1600200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828800" y="17190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3225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현원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600200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200400" y="17190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32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23225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 발생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3977640" cy="1133856"/>
          </a:xfrm>
          <a:prstGeom prst="roundRect">
            <a:avLst>
              <a:gd name="adj" fmla="val 4839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13232" y="314553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3621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공개채용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 9급</a:t>
            </a:r>
            <a:endParaRPr lang="en-US" sz="1150" dirty="0"/>
          </a:p>
          <a:p>
            <a:pPr eaLnBrk="0" latinLnBrk="0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 임용 예정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279392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13232" y="4279392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1508760" y="42793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증치 정원 — 기간제 인력으로 운영 예정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709160" y="1600200"/>
            <a:ext cx="397764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001768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사유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01768" y="277063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01768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22392" y="2286000"/>
            <a:ext cx="2971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일반직 정원 8명 대비 현원 5명으로 결원 3명이 발생하여, 안정적인 학교 행정업무 수행을 위한 인력 충원이 필요함.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01768" y="41879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001768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22392" y="3703320"/>
            <a:ext cx="2971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 3명 중 1명은 공개채용을 통해 충원하고, 증치 정원 2명은 기간제 인력으로 운영하고자 함.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5321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인건비는 교육청에서 지원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- 2 -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STAFFING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현황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인건비 교육청 지원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492770"/>
                <a:gridCol w="492770"/>
                <a:gridCol w="492770"/>
                <a:gridCol w="492770"/>
                <a:gridCol w="914400"/>
                <a:gridCol w="492770"/>
                <a:gridCol w="492770"/>
                <a:gridCol w="492770"/>
                <a:gridCol w="492770"/>
                <a:gridCol w="492770"/>
                <a:gridCol w="1417320"/>
              </a:tblGrid>
              <a:tr h="329184">
                <a:tc rowSpan="3" gridSpan="2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 hMerge="1">
                  <a:tcPr/>
                </a:tc>
                <a:tc gridSpan="5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(기술직)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(안)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3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 (증치사유)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 gridSpan="2" vMerge="1">
                  <a:tcPr/>
                </a:tc>
                <a:tc vMerge="1" hMerge="1">
                  <a:tcPr/>
                </a:tc>
                <a:tc gridSpan="4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기술·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관리운영직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29184">
                <a:tc gridSpan="2" vMerge="1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566928">
                <a:tc rowSpan="2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정석고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(24학급)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 rowSpan="2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C"/>
                    </a:solidFill>
                  </a:tcPr>
                </a:tc>
                <a:tc rowSpan="2"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9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- 15학급당  1명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l" indent="0" marL="0">
                        <a:buNone/>
                      </a:pPr>
                      <a:r>
                        <a:rPr lang="en-US" sz="9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- 1,000Kw 이상 1명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 vMerge="1">
                  <a:tcPr/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675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증치 정원 2명은 기간제 인력으로 운영 예정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" y="416052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457200" y="43799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정원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7091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8명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416052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700" b="1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1783080" y="416052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1783080" y="43799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현원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783080" y="47091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2834640" y="416052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700" b="1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108960" y="416052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BEDE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3108960" y="43799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108960" y="47091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210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 rot="5400000">
            <a:off x="4242816" y="47320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4544568" y="4160520"/>
            <a:ext cx="414223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4764024" y="42885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 3명 충원 방안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764024" y="4636008"/>
            <a:ext cx="1787652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910328" y="46360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5586984" y="4636008"/>
            <a:ext cx="836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공개채용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679692" y="4636008"/>
            <a:ext cx="1787652" cy="658368"/>
          </a:xfrm>
          <a:prstGeom prst="roundRect">
            <a:avLst>
              <a:gd name="adj" fmla="val 8333"/>
            </a:avLst>
          </a:prstGeom>
          <a:solidFill>
            <a:srgbClr val="E8EFFC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825996" y="46360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7502652" y="4636008"/>
            <a:ext cx="8366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기간제 운영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- 3 -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SCHEDULE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1389888" cy="26060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112264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6243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 및</a:t>
            </a:r>
            <a:endParaRPr lang="en-US" sz="1100" dirty="0"/>
          </a:p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계획(안) 보고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12064" y="3721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rot="5400000">
            <a:off x="1920240" y="308610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2167128" y="1874520"/>
            <a:ext cx="1389888" cy="26060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70048" y="2112264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670048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212848" y="26243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</a:t>
            </a:r>
            <a:endParaRPr lang="en-US" sz="1100" dirty="0"/>
          </a:p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221992" y="3721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 rot="5400000">
            <a:off x="3630168" y="308610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8" name="Shape 15"/>
          <p:cNvSpPr/>
          <p:nvPr/>
        </p:nvSpPr>
        <p:spPr>
          <a:xfrm>
            <a:off x="3877056" y="1874520"/>
            <a:ext cx="1389888" cy="26060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79976" y="2112264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379976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922776" y="26243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</a:t>
            </a:r>
            <a:endParaRPr lang="en-US" sz="1100" dirty="0"/>
          </a:p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(서류전형, 업무적성</a:t>
            </a:r>
            <a:endParaRPr lang="en-US" sz="1100" dirty="0"/>
          </a:p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심층면접)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3721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 초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 rot="5400000">
            <a:off x="5340096" y="308610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4" name="Shape 21"/>
          <p:cNvSpPr/>
          <p:nvPr/>
        </p:nvSpPr>
        <p:spPr>
          <a:xfrm>
            <a:off x="5586984" y="1874520"/>
            <a:ext cx="1389888" cy="26060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89904" y="2112264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089904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32704" y="26243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합격자 통보 및</a:t>
            </a:r>
            <a:endParaRPr lang="en-US" sz="1100" dirty="0"/>
          </a:p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검증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41848" y="3721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 rot="5400000">
            <a:off x="7050024" y="308610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30" name="Shape 27"/>
          <p:cNvSpPr/>
          <p:nvPr/>
        </p:nvSpPr>
        <p:spPr>
          <a:xfrm>
            <a:off x="7296912" y="1874520"/>
            <a:ext cx="1389888" cy="260604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799832" y="211226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79983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342632" y="2624328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351776" y="3721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200" y="4864608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731520" y="486460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사전협의(9월) → 공고·접수(11월) → 전형(12월 초) → 검증·통보(12월) → 임용(2027. 1. 1.)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- 4 -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PROCESS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절차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1389888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002536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51460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 rot="5400000">
            <a:off x="1920240" y="31318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2167128" y="1783080"/>
            <a:ext cx="1389888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70048" y="2002536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70048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251460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심사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221992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5배수 내외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 rot="5400000">
            <a:off x="3630168" y="31318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3877056" y="1783080"/>
            <a:ext cx="1389888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79976" y="2002536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79976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950208" y="251460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업무적성 및</a:t>
            </a:r>
            <a:endParaRPr lang="en-US" sz="1250" dirty="0"/>
          </a:p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심층 면접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2배수 내외</a:t>
            </a:r>
            <a:endParaRPr lang="en-US" sz="1100" dirty="0"/>
          </a:p>
          <a:p>
            <a:pPr eaLnBrk="0" latinLnBrk="0"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(법인승인요청)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rot="5400000">
            <a:off x="5340096" y="31318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3" name="Shape 20"/>
          <p:cNvSpPr/>
          <p:nvPr/>
        </p:nvSpPr>
        <p:spPr>
          <a:xfrm>
            <a:off x="5586984" y="1783080"/>
            <a:ext cx="1389888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89904" y="2002536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089904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60136" y="251460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</a:t>
            </a:r>
            <a:endParaRPr lang="en-US" sz="1250" dirty="0"/>
          </a:p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660136" y="338328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950" dirty="0"/>
          </a:p>
          <a:p>
            <a:pPr eaLnBrk="0" latinLnBrk="0"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조회</a:t>
            </a:r>
            <a:endParaRPr lang="en-US" sz="950" dirty="0"/>
          </a:p>
          <a:p>
            <a:pPr eaLnBrk="0" latinLnBrk="0" marL="127000" indent="-1270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성범죄 조회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 rot="5400000">
            <a:off x="7050024" y="3131820"/>
            <a:ext cx="182880" cy="18288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9" name="Shape 26"/>
          <p:cNvSpPr/>
          <p:nvPr/>
        </p:nvSpPr>
        <p:spPr>
          <a:xfrm>
            <a:off x="7296912" y="1783080"/>
            <a:ext cx="1389888" cy="2880360"/>
          </a:xfrm>
          <a:prstGeom prst="roundRect">
            <a:avLst>
              <a:gd name="adj" fmla="val 3947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99832" y="20025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799832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70064" y="2514600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최종합격자</a:t>
            </a:r>
            <a:endParaRPr lang="en-US" sz="1250" dirty="0"/>
          </a:p>
          <a:p>
            <a:pPr eaLnBrk="0" latinLnBrk="0"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7351776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100" dirty="0"/>
          </a:p>
          <a:p>
            <a:pPr eaLnBrk="0" latinLnBrk="0" algn="ctr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956048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694944" y="5047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 30점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94944" y="53400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지원자격 요건 및 자기소개서 작성 성실도 평가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09160" y="4956048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4946904" y="5047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면접전형 70점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4946904" y="53400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응시원서·자기소개서를 기초로 업무 적합성 종합평가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- 5 -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절차   1단계 / 4단계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지원서 접수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접수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46304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6304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서류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6888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면접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검증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1691640"/>
            <a:ext cx="3840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1520" y="18836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자격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9808" y="237744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0976" y="22860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「지방공무원법」 제31조에 결격사유에 해당하지 않는 자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9808" y="316382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50976" y="3072384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공고일 현재 취업가능 법정 연령(만 18세) 이상인 자로서 「지방공무원법」 제66조(정년)에 해당되지 않는 자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224528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31520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입력 항목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681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 ·  자기소개서(800자 이내)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16916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자기소개서 문항 (800자 이내)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572000" y="2121408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2313432"/>
            <a:ext cx="365760" cy="365760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75488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230368" y="2157984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성장배경, 본인 성격의 장·단점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0" y="2980944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54880" y="3172968"/>
            <a:ext cx="365760" cy="365760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548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230368" y="3017520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지원동기 (본교에 지원하게 된 이유와 응시 직종에 본인이 적합하다고 판단되는 이유)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0" y="384048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54880" y="4032504"/>
            <a:ext cx="365760" cy="365760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75488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230368" y="3877056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 후 포부 및 직무 수행 계획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572000" y="4700016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54880" y="4892040"/>
            <a:ext cx="365760" cy="365760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75488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230368" y="4736592"/>
            <a:ext cx="3255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내 갈등 상황과 이를 해결하기 위한 노력 및 극복했던 경험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- 6 -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절차   2단계 / 4단계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전형 (1차)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접수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46304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6304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서류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6888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면접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검증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7007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평가방법  </a:t>
            </a:r>
            <a:pPr eaLnBrk="0" latinLnBrk="0" indent="0" marL="0">
              <a:buNone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지원자격 요건 및 자기소개서 작성 성실도 등을 평가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9751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심사위원  </a:t>
            </a:r>
            <a:pPr eaLnBrk="0" latinLnBrk="0" indent="0" marL="0">
              <a:buNone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(교장 1명, 행정실장 1명, 외부위원 1명)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40864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합격배수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직무전문성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5배수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지원동기 및 직업관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성장과정 및 활동경험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303520" y="1700784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FBEDE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541264" y="192024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자기소개서 불성실 작성자</a:t>
            </a:r>
            <a:endParaRPr lang="en-US" sz="1450" dirty="0"/>
          </a:p>
          <a:p>
            <a:pPr eaLnBrk="0" latinLnBrk="0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탈락 기준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5559552" y="2779776"/>
            <a:ext cx="82296" cy="82296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760720" y="268833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문항과 전혀 무관한 내용을 작성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559552" y="3401568"/>
            <a:ext cx="82296" cy="82296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760720" y="33101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내용 반복 또는 문항별 50% 미만(약 400자) 작성한 경우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559552" y="4023360"/>
            <a:ext cx="82296" cy="82296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760720" y="393192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기관명을 오기재하여 제출한 경우 등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02920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640080" y="5029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 30점 · 합격배수 5배수 내외 — 심사위원 3명(교장 1, 행정실장 1, 외부위원 1)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- 7 -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절차   3단계 / 4단계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업무적성 및 심층면접 (2차)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접수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46304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6304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서류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6888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면접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검증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7007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평가방법  </a:t>
            </a:r>
            <a:pPr eaLnBrk="0" latinLnBrk="0" indent="0" marL="0">
              <a:buNone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응시원서 및 자기소개서를 기초로 업무 적합성을 종합평가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9751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심사위원  </a:t>
            </a:r>
            <a:pPr eaLnBrk="0" latinLnBrk="0" indent="0" marL="0">
              <a:buNone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 (교장 1명, 법인관계자 1명, 외부위원 1명)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40864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합격배수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직무수행능력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2배수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기본소양·태도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조직 이해도 및 적응력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발전가능성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303520" y="1700784"/>
            <a:ext cx="3383280" cy="3877056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541264" y="19019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전형별 배점 구성</a:t>
            </a:r>
            <a:endParaRPr lang="en-US" sz="14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760720" y="2231136"/>
          <a:ext cx="24688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5"/>
          <p:cNvSpPr/>
          <p:nvPr/>
        </p:nvSpPr>
        <p:spPr>
          <a:xfrm>
            <a:off x="5669280" y="41148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943600" y="4041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면접전형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7132320" y="4041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70점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669280" y="44622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CADCFC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943600" y="4389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서류전형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7132320" y="4389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30점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541264" y="482803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전형결과 합산 총 100점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541264" y="5120640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최고득점자 순으로 2배수 내외</a:t>
            </a:r>
            <a:endParaRPr lang="en-US" sz="1050" dirty="0"/>
          </a:p>
          <a:p>
            <a:pPr eaLnBrk="0" latinLnBrk="0"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 선정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- 8 -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절차   4단계 / 4단계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검증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접수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46304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6304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서류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8EF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6888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dirty="0">
                <a:solidFill>
                  <a:srgbClr val="8A9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면접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11556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1115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검증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16824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 상 자  </a:t>
            </a:r>
            <a:pPr eaLnBrk="0" latinLnBrk="0" indent="0" marL="0"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</a:t>
            </a:r>
            <a:pPr eaLnBrk="0" latinLnBrk="0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검증내용  </a:t>
            </a:r>
            <a:pPr eaLnBrk="0" latinLnBrk="0" indent="0" marL="0">
              <a:buNone/>
            </a:pPr>
            <a:r>
              <a:rPr lang="en-US" sz="115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 결격사유 해당 여부 확인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084832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13232" y="230428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2798064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시행근거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2798064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사무직원 인사 규정</a:t>
            </a:r>
            <a:endParaRPr lang="en-US" sz="1050" dirty="0"/>
          </a:p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(신규임용자 구비서류)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13232" y="345643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검사항목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456432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공무원 채용신체검사</a:t>
            </a:r>
            <a:endParaRPr lang="en-US" sz="1050" dirty="0"/>
          </a:p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적용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2084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결격사유조회 및 범죄경력조회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2450592"/>
          <a:ext cx="48463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1463040"/>
              </a:tblGrid>
              <a:tr h="329184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법령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 방법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결격사유 조회 및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범죄경력 조회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「교육공무원법」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l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「사립학교법」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행정정보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공동이용시스템 이용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성범죄결격 및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아동학대 범죄전력 조회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algn="l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「아동·청소년 성보호에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latinLnBrk="0" algn="l" indent="0" marL="0">
                        <a:buNone/>
                      </a:pPr>
                      <a:r>
                        <a:rPr lang="en-US" sz="1050" dirty="0">
                          <a:solidFill>
                            <a:srgbClr val="2226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관한 법률」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457200" y="4681728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E8EFF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731520" y="4681728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3종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920240" y="4919472"/>
            <a:ext cx="21031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1920240" y="49194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채용신체검사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06240" y="4919472"/>
            <a:ext cx="21031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206240" y="49194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결격사유 조회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92240" y="4919472"/>
            <a:ext cx="21031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492240" y="49194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성범죄·아동학대 조회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- 9 -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108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100" b="1" spc="140" kern="0" dirty="0">
                <a:solidFill>
                  <a:srgbClr val="6B71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OTHERS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3035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사항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2560320" cy="30632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10512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04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 선정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816352"/>
            <a:ext cx="1975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전형결과를 합산하여 최고득점자 순으로 2배수 내외의 최종합격 예정자를 선정함.</a:t>
            </a:r>
            <a:endParaRPr lang="en-US" sz="1100" dirty="0"/>
          </a:p>
          <a:p>
            <a:pPr eaLnBrk="0" latinLnBrk="0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 예정자에 대하여 법인에 임용 제청을 요청함.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72768"/>
            <a:ext cx="2560320" cy="30632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810512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6616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304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예비합격자 운영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2816352"/>
            <a:ext cx="1975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최종합격자가 임용을 포기하거나 결격사유 발생 등으로 임용이 불가능한 경우에는 차순위자를 임용할 수 있음.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572768"/>
            <a:ext cx="2560320" cy="30632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0" y="1810512"/>
            <a:ext cx="384048" cy="384048"/>
          </a:xfrm>
          <a:prstGeom prst="ellipse">
            <a:avLst/>
          </a:prstGeom>
          <a:solidFill>
            <a:srgbClr val="E8EFF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3042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가점 적용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419088" y="2816352"/>
            <a:ext cx="1975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22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「국가유공자 등 예우 및 지원에 관한 법률」, 「독립유공자 예우에 관한 법률」에 의한 취업지원(보호)대상자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864608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BEDEC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0080" y="4864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250" b="1" dirty="0">
                <a:solidFill>
                  <a:srgbClr val="B23A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채용예정인원이 3명 이하인 경우에는 보훈 가점을 적용하지 않음.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정석항공과학고등학교 교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65760"/>
            <a:ext cx="731520" cy="3136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0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en-US" sz="1050" dirty="0">
                <a:solidFill>
                  <a:srgbClr val="8E9A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- 10 -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713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보는 채용 계획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07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정석항공과학고등학교 · 기술·관리운영직(9급) 1명 공개채용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1858518" cy="1627632"/>
          </a:xfrm>
          <a:prstGeom prst="roundRect">
            <a:avLst>
              <a:gd name="adj" fmla="val 3933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48840"/>
            <a:ext cx="1492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인원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23160"/>
            <a:ext cx="14927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71800"/>
            <a:ext cx="1492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기술·관리운영직 9급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80894" y="1965960"/>
            <a:ext cx="1858518" cy="1627632"/>
          </a:xfrm>
          <a:prstGeom prst="roundRect">
            <a:avLst>
              <a:gd name="adj" fmla="val 3933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63774" y="2148840"/>
            <a:ext cx="1492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결원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763774" y="2423160"/>
            <a:ext cx="14927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763774" y="2971800"/>
            <a:ext cx="1492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정원 8 / 현원 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4588" y="1965960"/>
            <a:ext cx="1858518" cy="1627632"/>
          </a:xfrm>
          <a:prstGeom prst="roundRect">
            <a:avLst>
              <a:gd name="adj" fmla="val 3933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87468" y="2148840"/>
            <a:ext cx="1492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 배점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887468" y="2423160"/>
            <a:ext cx="14927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100점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887468" y="2971800"/>
            <a:ext cx="1492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30 + 면접 70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28282" y="1965960"/>
            <a:ext cx="1858518" cy="1627632"/>
          </a:xfrm>
          <a:prstGeom prst="roundRect">
            <a:avLst>
              <a:gd name="adj" fmla="val 3933"/>
            </a:avLst>
          </a:prstGeom>
          <a:solidFill>
            <a:srgbClr val="141B44"/>
          </a:solidFill>
          <a:ln w="12700">
            <a:solidFill>
              <a:srgbClr val="3440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11162" y="2148840"/>
            <a:ext cx="1492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임용일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011162" y="2423160"/>
            <a:ext cx="149275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011162" y="2971800"/>
            <a:ext cx="1492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임용 제청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078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일정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57200" y="45537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4773168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9월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5065776"/>
            <a:ext cx="17670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 사전협의·계획 보고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580894" y="45537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580894" y="4773168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11월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2580894" y="5065776"/>
            <a:ext cx="17670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채용공고 및 지원서 접수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04588" y="45537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04588" y="4773168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12월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704588" y="5065776"/>
            <a:ext cx="17670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1·2차 전형 및 결격사유 검증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828282" y="45537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828282" y="4773168"/>
            <a:ext cx="18585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2027. 1. 1.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828282" y="5065776"/>
            <a:ext cx="17670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6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임용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2027년 사무직원 채용 계획(안)</dc:title>
  <dc:subject>PptxGenJS Presentation</dc:subject>
  <dc:creator>정석항공과학고등학교</dc:creator>
  <cp:lastModifiedBy>정석항공과학고등학교</cp:lastModifiedBy>
  <cp:revision>1</cp:revision>
  <dcterms:created xsi:type="dcterms:W3CDTF">2026-08-31T04:47:18Z</dcterms:created>
  <dcterms:modified xsi:type="dcterms:W3CDTF">2026-08-31T04:47:18Z</dcterms:modified>
</cp:coreProperties>
</file>